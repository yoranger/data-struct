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17" r:id="rId4"/>
    <p:sldId id="277" r:id="rId5"/>
    <p:sldId id="281" r:id="rId6"/>
    <p:sldId id="282" r:id="rId7"/>
    <p:sldId id="315" r:id="rId8"/>
    <p:sldId id="307" r:id="rId9"/>
    <p:sldId id="308" r:id="rId10"/>
    <p:sldId id="287" r:id="rId11"/>
    <p:sldId id="284" r:id="rId12"/>
    <p:sldId id="316" r:id="rId13"/>
    <p:sldId id="310" r:id="rId14"/>
    <p:sldId id="311" r:id="rId15"/>
    <p:sldId id="302" r:id="rId16"/>
    <p:sldId id="303" r:id="rId17"/>
    <p:sldId id="304" r:id="rId18"/>
    <p:sldId id="312" r:id="rId19"/>
    <p:sldId id="313" r:id="rId20"/>
    <p:sldId id="314" r:id="rId21"/>
    <p:sldId id="28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960202"/>
    <a:srgbClr val="FFFFFF"/>
    <a:srgbClr val="FDF6E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84"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E8796-9072-C73D-8A7F-969C227E9F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92EBF97E-E8D9-B17D-E10A-E72FDFA5AE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2C7D944E-BFF3-7842-385A-0BEE9C2D1657}"/>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5" name="Footer Placeholder 4">
            <a:extLst>
              <a:ext uri="{FF2B5EF4-FFF2-40B4-BE49-F238E27FC236}">
                <a16:creationId xmlns:a16="http://schemas.microsoft.com/office/drawing/2014/main" id="{9F9E7F71-6D61-BE1C-8D9F-9A8D606FD5E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A60DAE0-E2F0-87C2-4EE9-2C672BBE176D}"/>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967142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BD244-9AF9-3B89-6146-6956BD46DD3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6495AC13-EF18-50A8-6B9B-F00B6EAC79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3ACFC0E-7BB6-A93F-B35B-A3F10B31770E}"/>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5" name="Footer Placeholder 4">
            <a:extLst>
              <a:ext uri="{FF2B5EF4-FFF2-40B4-BE49-F238E27FC236}">
                <a16:creationId xmlns:a16="http://schemas.microsoft.com/office/drawing/2014/main" id="{078BDB8F-259A-F7A3-47E0-015B6796D00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F45FEC8-7562-4E8B-4600-53B7E9000EFF}"/>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1256522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6EB05-3605-5B69-62BC-A87FE7EAEE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19A07E13-45A0-2532-21A2-20F15C7C41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508C0A-A326-A156-3EDB-35836A82EC98}"/>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5" name="Footer Placeholder 4">
            <a:extLst>
              <a:ext uri="{FF2B5EF4-FFF2-40B4-BE49-F238E27FC236}">
                <a16:creationId xmlns:a16="http://schemas.microsoft.com/office/drawing/2014/main" id="{5763F70D-FC45-A28D-B21E-030BF5017E0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325F69CE-C762-2771-1B62-0C49E17F8217}"/>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1138978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AEBA2-95A5-50CC-F644-0831EBE9C9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68093069-FCE8-26C3-5D14-764E0C82A0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E28441E0-41EB-7FE9-B76D-AB6FA82224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A2250062-B0AE-20E7-8F20-15308FF9FBDF}"/>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6" name="Footer Placeholder 5">
            <a:extLst>
              <a:ext uri="{FF2B5EF4-FFF2-40B4-BE49-F238E27FC236}">
                <a16:creationId xmlns:a16="http://schemas.microsoft.com/office/drawing/2014/main" id="{34C3767E-AD6B-7898-EE3E-EE2ACD81224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82464EE-69E6-D33B-70CE-0E8D74C01E88}"/>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3611920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C2203-AFAE-65A0-E8A6-030D354A1C87}"/>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438046FB-A2AA-C365-084E-5516D0837D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43F653-2F06-813F-5EDB-D2B0FCC2E6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A872C2D-25E6-6F31-3B1E-6EB851FA1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FFADF2-0288-3E80-042D-250BB5D67F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55E4F84-851B-6B3C-07A6-84D88A43800E}"/>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8" name="Footer Placeholder 7">
            <a:extLst>
              <a:ext uri="{FF2B5EF4-FFF2-40B4-BE49-F238E27FC236}">
                <a16:creationId xmlns:a16="http://schemas.microsoft.com/office/drawing/2014/main" id="{6D03E994-3424-74E4-5440-D4ADA2B7F51E}"/>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A7096812-F2F1-C790-FC57-77A4EC7FCABF}"/>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2473260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93933-49FD-DB8B-E60A-B5470EAE785D}"/>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FFB2B941-39CB-1C97-A90C-F4181DD12B72}"/>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4" name="Footer Placeholder 3">
            <a:extLst>
              <a:ext uri="{FF2B5EF4-FFF2-40B4-BE49-F238E27FC236}">
                <a16:creationId xmlns:a16="http://schemas.microsoft.com/office/drawing/2014/main" id="{103B1A9B-0B77-FFB8-D2CC-CA1104294307}"/>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E5EBCBFB-D0A9-CBDC-8FF4-0B4D5F3547C1}"/>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3758991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7686F0-AE5C-A45A-2E75-0FB45BB925F6}"/>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3" name="Footer Placeholder 2">
            <a:extLst>
              <a:ext uri="{FF2B5EF4-FFF2-40B4-BE49-F238E27FC236}">
                <a16:creationId xmlns:a16="http://schemas.microsoft.com/office/drawing/2014/main" id="{EF281321-A0EF-7454-AFC2-7559F16FF96F}"/>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81A0DA12-D830-023F-C88E-E805FA425264}"/>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3152216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11440-5170-BF66-7F2D-860BAD3CDD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75B8919B-A209-BB1A-0943-F6115C5345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8A90F40C-CF3C-EC69-DE32-650D340752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71763D-A9AE-7F7B-9634-F0E6A121ACAF}"/>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6" name="Footer Placeholder 5">
            <a:extLst>
              <a:ext uri="{FF2B5EF4-FFF2-40B4-BE49-F238E27FC236}">
                <a16:creationId xmlns:a16="http://schemas.microsoft.com/office/drawing/2014/main" id="{30F1EB1C-DDE9-5868-1F9E-6A1D8691B63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BDB4ACA6-FC3E-43C1-F54B-7BCCE28AA7BE}"/>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3615415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652A4-71D0-66AD-8A45-7E376BEC0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3EEBDC16-1330-59E9-77D1-43E58A1AA8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3FCE65B7-3428-D7EE-BE56-1B8E853A3F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4A61B9-A16B-4FF9-008F-730BC8692AA4}"/>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6" name="Footer Placeholder 5">
            <a:extLst>
              <a:ext uri="{FF2B5EF4-FFF2-40B4-BE49-F238E27FC236}">
                <a16:creationId xmlns:a16="http://schemas.microsoft.com/office/drawing/2014/main" id="{89CE5C8A-43D7-C323-666D-07A905FF1D3B}"/>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44DA20D-82C8-2DED-7223-0152E31570DE}"/>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3619255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7B9AE-3DC8-481C-F711-2A338E13095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98C1E5E-A9BF-14B0-FCBE-29FA18E6BC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4FD6947-FA38-074A-361D-162B6D5292E1}"/>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5" name="Footer Placeholder 4">
            <a:extLst>
              <a:ext uri="{FF2B5EF4-FFF2-40B4-BE49-F238E27FC236}">
                <a16:creationId xmlns:a16="http://schemas.microsoft.com/office/drawing/2014/main" id="{22A8C34D-2528-E7E8-44A5-81321639FFE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44A2D34-DFCF-5B5B-F7ED-BABCE269E7AF}"/>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1724426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45CD55-DF0E-17F4-273E-F98BCA58CE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E9B68A3-C276-3645-C9CE-1B1893945C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E3C9A5F-E6B3-4B0D-A14A-80AE5507043D}"/>
              </a:ext>
            </a:extLst>
          </p:cNvPr>
          <p:cNvSpPr>
            <a:spLocks noGrp="1"/>
          </p:cNvSpPr>
          <p:nvPr>
            <p:ph type="dt" sz="half" idx="10"/>
          </p:nvPr>
        </p:nvSpPr>
        <p:spPr/>
        <p:txBody>
          <a:bodyPr/>
          <a:lstStyle/>
          <a:p>
            <a:fld id="{3356C2CD-91E1-4472-9D31-D1AD65B2C521}" type="datetimeFigureOut">
              <a:rPr lang="en-SG" smtClean="0"/>
              <a:t>20/1/2026</a:t>
            </a:fld>
            <a:endParaRPr lang="en-SG"/>
          </a:p>
        </p:txBody>
      </p:sp>
      <p:sp>
        <p:nvSpPr>
          <p:cNvPr id="5" name="Footer Placeholder 4">
            <a:extLst>
              <a:ext uri="{FF2B5EF4-FFF2-40B4-BE49-F238E27FC236}">
                <a16:creationId xmlns:a16="http://schemas.microsoft.com/office/drawing/2014/main" id="{2ADD2173-0993-A7E4-1CB0-19E772A5D2E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C43A042-AA27-CD36-159D-D50FA86B03AB}"/>
              </a:ext>
            </a:extLst>
          </p:cNvPr>
          <p:cNvSpPr>
            <a:spLocks noGrp="1"/>
          </p:cNvSpPr>
          <p:nvPr>
            <p:ph type="sldNum" sz="quarter" idx="12"/>
          </p:nvPr>
        </p:nvSpPr>
        <p:spPr/>
        <p:txBody>
          <a:bodyPr/>
          <a:lstStyle/>
          <a:p>
            <a:fld id="{B59C118E-265F-4968-A754-2561238BE320}" type="slidenum">
              <a:rPr lang="en-SG" smtClean="0"/>
              <a:t>‹#›</a:t>
            </a:fld>
            <a:endParaRPr lang="en-SG"/>
          </a:p>
        </p:txBody>
      </p:sp>
    </p:spTree>
    <p:extLst>
      <p:ext uri="{BB962C8B-B14F-4D97-AF65-F5344CB8AC3E}">
        <p14:creationId xmlns:p14="http://schemas.microsoft.com/office/powerpoint/2010/main" val="3837847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7DE83-C01E-5D7D-510E-BBB274487D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D750D19-98E4-2393-75C0-B7C27366C7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4A19EB-3C18-3507-776B-DAB204D52B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56C2CD-91E1-4472-9D31-D1AD65B2C521}" type="datetimeFigureOut">
              <a:rPr lang="en-SG" smtClean="0"/>
              <a:t>20/1/2026</a:t>
            </a:fld>
            <a:endParaRPr lang="en-SG"/>
          </a:p>
        </p:txBody>
      </p:sp>
      <p:sp>
        <p:nvSpPr>
          <p:cNvPr id="5" name="Footer Placeholder 4">
            <a:extLst>
              <a:ext uri="{FF2B5EF4-FFF2-40B4-BE49-F238E27FC236}">
                <a16:creationId xmlns:a16="http://schemas.microsoft.com/office/drawing/2014/main" id="{E5A1EB58-D8F8-F56E-3A81-683AC1B3C4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D221702C-2809-EAB9-5DCF-C71F326463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9C118E-265F-4968-A754-2561238BE320}" type="slidenum">
              <a:rPr lang="en-SG" smtClean="0"/>
              <a:t>‹#›</a:t>
            </a:fld>
            <a:endParaRPr lang="en-SG"/>
          </a:p>
        </p:txBody>
      </p:sp>
      <p:pic>
        <p:nvPicPr>
          <p:cNvPr id="7" name="Picture 6">
            <a:extLst>
              <a:ext uri="{FF2B5EF4-FFF2-40B4-BE49-F238E27FC236}">
                <a16:creationId xmlns:a16="http://schemas.microsoft.com/office/drawing/2014/main" id="{D185241F-DD78-D597-0F52-B599E481A907}"/>
              </a:ext>
            </a:extLst>
          </p:cNvPr>
          <p:cNvPicPr>
            <a:picLocks noChangeAspect="1"/>
          </p:cNvPicPr>
          <p:nvPr userDrawn="1"/>
        </p:nvPicPr>
        <p:blipFill>
          <a:blip r:embed="rId13">
            <a:alphaModFix amt="20000"/>
          </a:blip>
          <a:srcRect t="15634"/>
          <a:stretch/>
        </p:blipFill>
        <p:spPr>
          <a:xfrm>
            <a:off x="-1262" y="0"/>
            <a:ext cx="12193262" cy="6858001"/>
          </a:xfrm>
          <a:prstGeom prst="rect">
            <a:avLst/>
          </a:prstGeom>
        </p:spPr>
      </p:pic>
    </p:spTree>
    <p:extLst>
      <p:ext uri="{BB962C8B-B14F-4D97-AF65-F5344CB8AC3E}">
        <p14:creationId xmlns:p14="http://schemas.microsoft.com/office/powerpoint/2010/main" val="3082448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27A44-E083-4AE0-446C-03FFBC6AA384}"/>
              </a:ext>
            </a:extLst>
          </p:cNvPr>
          <p:cNvSpPr>
            <a:spLocks noGrp="1"/>
          </p:cNvSpPr>
          <p:nvPr>
            <p:ph type="ctrTitle"/>
          </p:nvPr>
        </p:nvSpPr>
        <p:spPr/>
        <p:txBody>
          <a:bodyPr/>
          <a:lstStyle/>
          <a:p>
            <a:r>
              <a:rPr lang="en-SG" dirty="0"/>
              <a:t>CSD2183</a:t>
            </a:r>
            <a:br>
              <a:rPr lang="en-SG" dirty="0"/>
            </a:br>
            <a:r>
              <a:rPr lang="en-SG" dirty="0"/>
              <a:t>Lab03 – Sort Algorithms</a:t>
            </a:r>
          </a:p>
        </p:txBody>
      </p:sp>
      <p:sp>
        <p:nvSpPr>
          <p:cNvPr id="3" name="Subtitle 2">
            <a:extLst>
              <a:ext uri="{FF2B5EF4-FFF2-40B4-BE49-F238E27FC236}">
                <a16:creationId xmlns:a16="http://schemas.microsoft.com/office/drawing/2014/main" id="{967A0327-DF6F-CDB5-7613-BA1B05C855AB}"/>
              </a:ext>
            </a:extLst>
          </p:cNvPr>
          <p:cNvSpPr>
            <a:spLocks noGrp="1"/>
          </p:cNvSpPr>
          <p:nvPr>
            <p:ph type="subTitle" idx="1"/>
          </p:nvPr>
        </p:nvSpPr>
        <p:spPr/>
        <p:txBody>
          <a:bodyPr/>
          <a:lstStyle/>
          <a:p>
            <a:r>
              <a:rPr lang="en-SG" i="1" dirty="0"/>
              <a:t>2026</a:t>
            </a:r>
          </a:p>
          <a:p>
            <a:r>
              <a:rPr lang="en-SG" i="1" dirty="0"/>
              <a:t>Dr Chiew TK</a:t>
            </a:r>
          </a:p>
        </p:txBody>
      </p:sp>
    </p:spTree>
    <p:extLst>
      <p:ext uri="{BB962C8B-B14F-4D97-AF65-F5344CB8AC3E}">
        <p14:creationId xmlns:p14="http://schemas.microsoft.com/office/powerpoint/2010/main" val="2624121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F35A1-FF2E-0A82-23A9-06850A9100DC}"/>
              </a:ext>
            </a:extLst>
          </p:cNvPr>
          <p:cNvSpPr>
            <a:spLocks noGrp="1"/>
          </p:cNvSpPr>
          <p:nvPr>
            <p:ph type="title"/>
          </p:nvPr>
        </p:nvSpPr>
        <p:spPr>
          <a:xfrm>
            <a:off x="200247" y="195004"/>
            <a:ext cx="10515600" cy="1006779"/>
          </a:xfrm>
        </p:spPr>
        <p:txBody>
          <a:bodyPr/>
          <a:lstStyle/>
          <a:p>
            <a:r>
              <a:rPr lang="en-SG" dirty="0"/>
              <a:t>Exercises</a:t>
            </a:r>
          </a:p>
        </p:txBody>
      </p:sp>
      <p:sp>
        <p:nvSpPr>
          <p:cNvPr id="8" name="Title 1">
            <a:extLst>
              <a:ext uri="{FF2B5EF4-FFF2-40B4-BE49-F238E27FC236}">
                <a16:creationId xmlns:a16="http://schemas.microsoft.com/office/drawing/2014/main" id="{EB43843B-940E-789B-1D28-3219C462736F}"/>
              </a:ext>
            </a:extLst>
          </p:cNvPr>
          <p:cNvSpPr txBox="1">
            <a:spLocks/>
          </p:cNvSpPr>
          <p:nvPr/>
        </p:nvSpPr>
        <p:spPr>
          <a:xfrm>
            <a:off x="1857604" y="1161916"/>
            <a:ext cx="8341472" cy="5108590"/>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19138" indent="-719138">
              <a:lnSpc>
                <a:spcPct val="150000"/>
              </a:lnSpc>
              <a:buFont typeface="+mj-lt"/>
              <a:buAutoNum type="arabicPeriod"/>
            </a:pPr>
            <a:r>
              <a:rPr lang="en-SG" sz="4000" dirty="0"/>
              <a:t>Quick Sort</a:t>
            </a:r>
          </a:p>
          <a:p>
            <a:pPr marL="1071563" lvl="1" indent="-352425">
              <a:lnSpc>
                <a:spcPct val="150000"/>
              </a:lnSpc>
              <a:buFont typeface="+mj-lt"/>
              <a:buAutoNum type="alphaLcParenR"/>
            </a:pPr>
            <a:r>
              <a:rPr lang="en-SG" sz="3100" dirty="0"/>
              <a:t>Implement Recursive Quick Sort</a:t>
            </a:r>
          </a:p>
          <a:p>
            <a:pPr marL="1071563" lvl="1" indent="-352425">
              <a:lnSpc>
                <a:spcPct val="150000"/>
              </a:lnSpc>
              <a:buFont typeface="+mj-lt"/>
              <a:buAutoNum type="alphaLcParenR"/>
            </a:pPr>
            <a:r>
              <a:rPr lang="en-SG" sz="3100" dirty="0"/>
              <a:t>Find Kth minimum element using Quick Sort method</a:t>
            </a:r>
          </a:p>
          <a:p>
            <a:pPr marL="742950" indent="-742950">
              <a:lnSpc>
                <a:spcPct val="150000"/>
              </a:lnSpc>
              <a:buFont typeface="+mj-lt"/>
              <a:buAutoNum type="arabicPeriod"/>
            </a:pPr>
            <a:r>
              <a:rPr lang="en-SG" dirty="0"/>
              <a:t>Heap Sort</a:t>
            </a:r>
          </a:p>
          <a:p>
            <a:pPr marL="1071563" lvl="1" indent="-352425">
              <a:lnSpc>
                <a:spcPct val="150000"/>
              </a:lnSpc>
              <a:buFont typeface="+mj-lt"/>
              <a:buAutoNum type="alphaLcParenR"/>
            </a:pPr>
            <a:r>
              <a:rPr lang="en-SG" sz="3100" dirty="0"/>
              <a:t>Implement </a:t>
            </a:r>
            <a:r>
              <a:rPr lang="en-SG" sz="3100" dirty="0" err="1"/>
              <a:t>Heapify</a:t>
            </a:r>
            <a:r>
              <a:rPr lang="en-SG" sz="3100" dirty="0"/>
              <a:t> to build Min-Heap</a:t>
            </a:r>
          </a:p>
          <a:p>
            <a:pPr marL="1071563" lvl="1" indent="-352425">
              <a:lnSpc>
                <a:spcPct val="150000"/>
              </a:lnSpc>
              <a:buFont typeface="+mj-lt"/>
              <a:buAutoNum type="alphaLcParenR"/>
            </a:pPr>
            <a:r>
              <a:rPr lang="en-SG" sz="3100" dirty="0"/>
              <a:t>Implement Heap sort with </a:t>
            </a:r>
            <a:r>
              <a:rPr lang="en-SG" sz="3100" dirty="0" err="1"/>
              <a:t>Heapify</a:t>
            </a:r>
            <a:endParaRPr lang="en-SG" sz="3100" dirty="0"/>
          </a:p>
          <a:p>
            <a:pPr marL="742950" indent="-742950">
              <a:lnSpc>
                <a:spcPct val="150000"/>
              </a:lnSpc>
              <a:buFont typeface="+mj-lt"/>
              <a:buAutoNum type="arabicPeriod"/>
            </a:pPr>
            <a:r>
              <a:rPr lang="en-SG" dirty="0"/>
              <a:t>Bubble Sort</a:t>
            </a:r>
          </a:p>
          <a:p>
            <a:pPr marL="1071563" lvl="1" indent="-352425">
              <a:lnSpc>
                <a:spcPct val="150000"/>
              </a:lnSpc>
              <a:buFont typeface="+mj-lt"/>
              <a:buAutoNum type="alphaLcParenR"/>
            </a:pPr>
            <a:r>
              <a:rPr lang="en-SG" sz="3100" dirty="0"/>
              <a:t>Implement Bubble Sort (iteratively)</a:t>
            </a:r>
          </a:p>
          <a:p>
            <a:pPr marL="1071563" lvl="1" indent="-352425">
              <a:lnSpc>
                <a:spcPct val="150000"/>
              </a:lnSpc>
              <a:buFont typeface="+mj-lt"/>
              <a:buAutoNum type="alphaLcParenR"/>
            </a:pPr>
            <a:r>
              <a:rPr lang="en-SG" sz="3100" dirty="0"/>
              <a:t>Benchmark Bubble Sort</a:t>
            </a:r>
          </a:p>
        </p:txBody>
      </p:sp>
    </p:spTree>
    <p:extLst>
      <p:ext uri="{BB962C8B-B14F-4D97-AF65-F5344CB8AC3E}">
        <p14:creationId xmlns:p14="http://schemas.microsoft.com/office/powerpoint/2010/main" val="670828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9401B-8362-E960-DB94-0BB7D208E063}"/>
              </a:ext>
            </a:extLst>
          </p:cNvPr>
          <p:cNvSpPr>
            <a:spLocks noGrp="1"/>
          </p:cNvSpPr>
          <p:nvPr>
            <p:ph type="title"/>
          </p:nvPr>
        </p:nvSpPr>
        <p:spPr>
          <a:xfrm>
            <a:off x="838200" y="365126"/>
            <a:ext cx="10515600" cy="795460"/>
          </a:xfrm>
        </p:spPr>
        <p:txBody>
          <a:bodyPr/>
          <a:lstStyle/>
          <a:p>
            <a:r>
              <a:rPr lang="en-SG" dirty="0"/>
              <a:t>Data file format</a:t>
            </a:r>
          </a:p>
        </p:txBody>
      </p:sp>
      <p:sp>
        <p:nvSpPr>
          <p:cNvPr id="5" name="Rectangle 4">
            <a:extLst>
              <a:ext uri="{FF2B5EF4-FFF2-40B4-BE49-F238E27FC236}">
                <a16:creationId xmlns:a16="http://schemas.microsoft.com/office/drawing/2014/main" id="{23D8194D-5130-41B5-E7DD-C6CCA9E71954}"/>
              </a:ext>
            </a:extLst>
          </p:cNvPr>
          <p:cNvSpPr/>
          <p:nvPr/>
        </p:nvSpPr>
        <p:spPr>
          <a:xfrm>
            <a:off x="1052729" y="2227384"/>
            <a:ext cx="4447737" cy="339969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SG" sz="3200" dirty="0">
                <a:solidFill>
                  <a:schemeClr val="accent4">
                    <a:lumMod val="50000"/>
                  </a:schemeClr>
                </a:solidFill>
              </a:rPr>
              <a:t>11</a:t>
            </a:r>
          </a:p>
          <a:p>
            <a:r>
              <a:rPr lang="en-SG" sz="3200" dirty="0">
                <a:solidFill>
                  <a:schemeClr val="accent4">
                    <a:lumMod val="50000"/>
                  </a:schemeClr>
                </a:solidFill>
              </a:rPr>
              <a:t>9 0 3 8 7 2 6 4 1 10 5</a:t>
            </a:r>
          </a:p>
          <a:p>
            <a:r>
              <a:rPr lang="en-SG" sz="3200" dirty="0">
                <a:solidFill>
                  <a:schemeClr val="accent5">
                    <a:lumMod val="60000"/>
                    <a:lumOff val="40000"/>
                  </a:schemeClr>
                </a:solidFill>
              </a:rPr>
              <a:t>7</a:t>
            </a:r>
          </a:p>
        </p:txBody>
      </p:sp>
      <p:sp>
        <p:nvSpPr>
          <p:cNvPr id="6" name="Rectangle 5">
            <a:extLst>
              <a:ext uri="{FF2B5EF4-FFF2-40B4-BE49-F238E27FC236}">
                <a16:creationId xmlns:a16="http://schemas.microsoft.com/office/drawing/2014/main" id="{9968CDDF-6119-E4A9-9207-1EAF35544E74}"/>
              </a:ext>
            </a:extLst>
          </p:cNvPr>
          <p:cNvSpPr/>
          <p:nvPr/>
        </p:nvSpPr>
        <p:spPr>
          <a:xfrm>
            <a:off x="1010527" y="1664677"/>
            <a:ext cx="2323516" cy="5298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SG" sz="3200" dirty="0">
                <a:solidFill>
                  <a:schemeClr val="tx1"/>
                </a:solidFill>
              </a:rPr>
              <a:t>Test.dat</a:t>
            </a:r>
          </a:p>
        </p:txBody>
      </p:sp>
      <p:sp>
        <p:nvSpPr>
          <p:cNvPr id="7" name="Rectangle 6">
            <a:extLst>
              <a:ext uri="{FF2B5EF4-FFF2-40B4-BE49-F238E27FC236}">
                <a16:creationId xmlns:a16="http://schemas.microsoft.com/office/drawing/2014/main" id="{51F979A6-975E-AAAE-504B-F3F6BFB83DB4}"/>
              </a:ext>
            </a:extLst>
          </p:cNvPr>
          <p:cNvSpPr/>
          <p:nvPr/>
        </p:nvSpPr>
        <p:spPr>
          <a:xfrm>
            <a:off x="5877948" y="2199248"/>
            <a:ext cx="3659946" cy="5298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SG" sz="3200" dirty="0">
                <a:solidFill>
                  <a:schemeClr val="tx1"/>
                </a:solidFill>
              </a:rPr>
              <a:t>Number of inputs, </a:t>
            </a:r>
            <a:r>
              <a:rPr lang="en-SG" sz="3200" i="1" dirty="0">
                <a:solidFill>
                  <a:schemeClr val="tx1"/>
                </a:solidFill>
              </a:rPr>
              <a:t>n</a:t>
            </a:r>
            <a:endParaRPr lang="en-SG" sz="3200" dirty="0">
              <a:solidFill>
                <a:schemeClr val="tx1"/>
              </a:solidFill>
            </a:endParaRPr>
          </a:p>
        </p:txBody>
      </p:sp>
      <p:sp>
        <p:nvSpPr>
          <p:cNvPr id="8" name="Rectangle 7">
            <a:extLst>
              <a:ext uri="{FF2B5EF4-FFF2-40B4-BE49-F238E27FC236}">
                <a16:creationId xmlns:a16="http://schemas.microsoft.com/office/drawing/2014/main" id="{2EB16C7F-B3EC-4AAC-BFF0-EB7F5C512317}"/>
              </a:ext>
            </a:extLst>
          </p:cNvPr>
          <p:cNvSpPr/>
          <p:nvPr/>
        </p:nvSpPr>
        <p:spPr>
          <a:xfrm>
            <a:off x="5877947" y="2733820"/>
            <a:ext cx="4377399" cy="5298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SG" sz="3200" dirty="0">
                <a:solidFill>
                  <a:schemeClr val="tx1"/>
                </a:solidFill>
              </a:rPr>
              <a:t>List of </a:t>
            </a:r>
            <a:r>
              <a:rPr lang="en-SG" sz="3200" i="1" dirty="0">
                <a:solidFill>
                  <a:schemeClr val="tx1"/>
                </a:solidFill>
              </a:rPr>
              <a:t>n </a:t>
            </a:r>
            <a:r>
              <a:rPr lang="en-SG" sz="3200" dirty="0">
                <a:solidFill>
                  <a:schemeClr val="tx1"/>
                </a:solidFill>
              </a:rPr>
              <a:t>integer inputs</a:t>
            </a:r>
          </a:p>
        </p:txBody>
      </p:sp>
      <p:sp>
        <p:nvSpPr>
          <p:cNvPr id="9" name="Rectangle 8">
            <a:extLst>
              <a:ext uri="{FF2B5EF4-FFF2-40B4-BE49-F238E27FC236}">
                <a16:creationId xmlns:a16="http://schemas.microsoft.com/office/drawing/2014/main" id="{1CAD0F09-0DA9-6C5D-28FB-038A6E0C590E}"/>
              </a:ext>
            </a:extLst>
          </p:cNvPr>
          <p:cNvSpPr/>
          <p:nvPr/>
        </p:nvSpPr>
        <p:spPr>
          <a:xfrm>
            <a:off x="5877947" y="3226189"/>
            <a:ext cx="5362139" cy="5298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SG" sz="3200" dirty="0">
                <a:solidFill>
                  <a:schemeClr val="tx1"/>
                </a:solidFill>
              </a:rPr>
              <a:t>Only in Ex1b, the </a:t>
            </a:r>
            <a:r>
              <a:rPr lang="en-SG" sz="3200" i="1" dirty="0">
                <a:solidFill>
                  <a:schemeClr val="tx1"/>
                </a:solidFill>
              </a:rPr>
              <a:t>k</a:t>
            </a:r>
            <a:r>
              <a:rPr lang="en-SG" sz="3200" baseline="30000" dirty="0">
                <a:solidFill>
                  <a:schemeClr val="tx1"/>
                </a:solidFill>
              </a:rPr>
              <a:t>th</a:t>
            </a:r>
            <a:r>
              <a:rPr lang="en-SG" sz="3200" dirty="0">
                <a:solidFill>
                  <a:schemeClr val="tx1"/>
                </a:solidFill>
              </a:rPr>
              <a:t> element </a:t>
            </a:r>
          </a:p>
        </p:txBody>
      </p:sp>
      <p:cxnSp>
        <p:nvCxnSpPr>
          <p:cNvPr id="11" name="Straight Arrow Connector 10">
            <a:extLst>
              <a:ext uri="{FF2B5EF4-FFF2-40B4-BE49-F238E27FC236}">
                <a16:creationId xmlns:a16="http://schemas.microsoft.com/office/drawing/2014/main" id="{89E71B7F-737E-C5E3-CB3E-F8C6EB596D30}"/>
              </a:ext>
            </a:extLst>
          </p:cNvPr>
          <p:cNvCxnSpPr>
            <a:stCxn id="7" idx="1"/>
          </p:cNvCxnSpPr>
          <p:nvPr/>
        </p:nvCxnSpPr>
        <p:spPr>
          <a:xfrm flipH="1" flipV="1">
            <a:off x="1688123" y="2461846"/>
            <a:ext cx="4189825" cy="2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92ECE4F-293C-AE9E-7FFA-0A10C6C5411D}"/>
              </a:ext>
            </a:extLst>
          </p:cNvPr>
          <p:cNvCxnSpPr>
            <a:cxnSpLocks/>
            <a:stCxn id="8" idx="1"/>
          </p:cNvCxnSpPr>
          <p:nvPr/>
        </p:nvCxnSpPr>
        <p:spPr>
          <a:xfrm flipH="1">
            <a:off x="4642338" y="2998762"/>
            <a:ext cx="12356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1D9D9E2-D14C-56BA-EBC4-05F3F42A81E5}"/>
              </a:ext>
            </a:extLst>
          </p:cNvPr>
          <p:cNvCxnSpPr>
            <a:cxnSpLocks/>
            <a:stCxn id="9" idx="1"/>
          </p:cNvCxnSpPr>
          <p:nvPr/>
        </p:nvCxnSpPr>
        <p:spPr>
          <a:xfrm flipH="1">
            <a:off x="1434905" y="3491131"/>
            <a:ext cx="44430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796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78E38-41D6-A1F3-6A56-505654748586}"/>
              </a:ext>
            </a:extLst>
          </p:cNvPr>
          <p:cNvSpPr>
            <a:spLocks noGrp="1"/>
          </p:cNvSpPr>
          <p:nvPr>
            <p:ph type="title"/>
          </p:nvPr>
        </p:nvSpPr>
        <p:spPr>
          <a:xfrm>
            <a:off x="838200" y="2574925"/>
            <a:ext cx="10515600" cy="1325563"/>
          </a:xfrm>
        </p:spPr>
        <p:txBody>
          <a:bodyPr/>
          <a:lstStyle/>
          <a:p>
            <a:pPr algn="ctr"/>
            <a:r>
              <a:rPr lang="en-SG" dirty="0"/>
              <a:t>(1) Quick Sort</a:t>
            </a:r>
          </a:p>
        </p:txBody>
      </p:sp>
    </p:spTree>
    <p:extLst>
      <p:ext uri="{BB962C8B-B14F-4D97-AF65-F5344CB8AC3E}">
        <p14:creationId xmlns:p14="http://schemas.microsoft.com/office/powerpoint/2010/main" val="2919187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0B21BC-BA8C-FA62-B301-721FCB52EE52}"/>
              </a:ext>
            </a:extLst>
          </p:cNvPr>
          <p:cNvSpPr>
            <a:spLocks noGrp="1"/>
          </p:cNvSpPr>
          <p:nvPr>
            <p:ph type="title"/>
          </p:nvPr>
        </p:nvSpPr>
        <p:spPr>
          <a:xfrm>
            <a:off x="838200" y="365125"/>
            <a:ext cx="10515600" cy="640715"/>
          </a:xfrm>
        </p:spPr>
        <p:txBody>
          <a:bodyPr>
            <a:normAutofit fontScale="90000"/>
          </a:bodyPr>
          <a:lstStyle/>
          <a:p>
            <a:r>
              <a:rPr lang="en-SG" dirty="0"/>
              <a:t>What is Quick Sort?</a:t>
            </a:r>
          </a:p>
        </p:txBody>
      </p:sp>
      <p:sp>
        <p:nvSpPr>
          <p:cNvPr id="4" name="Content Placeholder 3">
            <a:extLst>
              <a:ext uri="{FF2B5EF4-FFF2-40B4-BE49-F238E27FC236}">
                <a16:creationId xmlns:a16="http://schemas.microsoft.com/office/drawing/2014/main" id="{A160FAEF-442A-9C49-1C49-71AC543527E8}"/>
              </a:ext>
            </a:extLst>
          </p:cNvPr>
          <p:cNvSpPr>
            <a:spLocks noGrp="1"/>
          </p:cNvSpPr>
          <p:nvPr>
            <p:ph idx="1"/>
          </p:nvPr>
        </p:nvSpPr>
        <p:spPr>
          <a:xfrm>
            <a:off x="838200" y="1214847"/>
            <a:ext cx="10515600" cy="5069840"/>
          </a:xfrm>
        </p:spPr>
        <p:txBody>
          <a:bodyPr>
            <a:normAutofit fontScale="92500" lnSpcReduction="10000"/>
          </a:bodyPr>
          <a:lstStyle/>
          <a:p>
            <a:pPr>
              <a:lnSpc>
                <a:spcPct val="110000"/>
              </a:lnSpc>
              <a:spcBef>
                <a:spcPts val="0"/>
              </a:spcBef>
            </a:pPr>
            <a:r>
              <a:rPr lang="en-SG" dirty="0"/>
              <a:t>Quick Sort is an efficient </a:t>
            </a:r>
            <a:r>
              <a:rPr lang="en-SG" b="1" dirty="0"/>
              <a:t>divide-and-conquer</a:t>
            </a:r>
            <a:r>
              <a:rPr lang="en-SG" dirty="0"/>
              <a:t> algorithm used to sort elements in an array. It works by selecting a "</a:t>
            </a:r>
            <a:r>
              <a:rPr lang="en-SG" b="1" dirty="0"/>
              <a:t>pivot</a:t>
            </a:r>
            <a:r>
              <a:rPr lang="en-SG" dirty="0"/>
              <a:t>" element, partitioning the array into two sub-arrays around the pivot, and recursively sorting the sub-arrays.</a:t>
            </a:r>
          </a:p>
          <a:p>
            <a:pPr>
              <a:lnSpc>
                <a:spcPct val="110000"/>
              </a:lnSpc>
              <a:spcBef>
                <a:spcPts val="0"/>
              </a:spcBef>
            </a:pPr>
            <a:r>
              <a:rPr lang="en-SG" dirty="0"/>
              <a:t>How It Works</a:t>
            </a:r>
          </a:p>
          <a:p>
            <a:pPr marL="914400" lvl="1" indent="-457200">
              <a:lnSpc>
                <a:spcPct val="110000"/>
              </a:lnSpc>
              <a:spcBef>
                <a:spcPts val="0"/>
              </a:spcBef>
              <a:buFont typeface="+mj-lt"/>
              <a:buAutoNum type="arabicPeriod"/>
            </a:pPr>
            <a:r>
              <a:rPr lang="en-SG" dirty="0"/>
              <a:t>Choose a Pivot – Select an element as the pivot. Common strategies include choosing the first, last, or a random element.</a:t>
            </a:r>
          </a:p>
          <a:p>
            <a:pPr marL="914400" lvl="1" indent="-457200">
              <a:lnSpc>
                <a:spcPct val="110000"/>
              </a:lnSpc>
              <a:spcBef>
                <a:spcPts val="0"/>
              </a:spcBef>
              <a:buFont typeface="+mj-lt"/>
              <a:buAutoNum type="arabicPeriod"/>
            </a:pPr>
            <a:r>
              <a:rPr lang="en-SG" dirty="0"/>
              <a:t>Partition the Array – Rearrange the elements so that:</a:t>
            </a:r>
          </a:p>
          <a:p>
            <a:pPr lvl="2">
              <a:lnSpc>
                <a:spcPct val="110000"/>
              </a:lnSpc>
              <a:spcBef>
                <a:spcPts val="0"/>
              </a:spcBef>
            </a:pPr>
            <a:r>
              <a:rPr lang="en-SG" dirty="0"/>
              <a:t>All elements smaller than or equal to the pivot are on its left.</a:t>
            </a:r>
          </a:p>
          <a:p>
            <a:pPr lvl="2">
              <a:lnSpc>
                <a:spcPct val="110000"/>
              </a:lnSpc>
              <a:spcBef>
                <a:spcPts val="0"/>
              </a:spcBef>
            </a:pPr>
            <a:r>
              <a:rPr lang="en-SG" dirty="0"/>
              <a:t>All elements larger than the pivot are on its right.</a:t>
            </a:r>
          </a:p>
          <a:p>
            <a:pPr>
              <a:lnSpc>
                <a:spcPct val="110000"/>
              </a:lnSpc>
              <a:spcBef>
                <a:spcPts val="0"/>
              </a:spcBef>
            </a:pPr>
            <a:r>
              <a:rPr lang="en-SG" dirty="0"/>
              <a:t>Recursive Sorting – Recursively apply Quick Sort to the left and right sub-arrays until the sub-arrays have one or no elements (base case)</a:t>
            </a:r>
          </a:p>
          <a:p>
            <a:pPr>
              <a:lnSpc>
                <a:spcPct val="110000"/>
              </a:lnSpc>
              <a:spcBef>
                <a:spcPts val="0"/>
              </a:spcBef>
            </a:pPr>
            <a:r>
              <a:rPr lang="en-SG" dirty="0"/>
              <a:t>Note: </a:t>
            </a:r>
            <a:r>
              <a:rPr lang="en-SG" b="1" dirty="0"/>
              <a:t>pivots are always sorted first!</a:t>
            </a:r>
          </a:p>
        </p:txBody>
      </p:sp>
    </p:spTree>
    <p:extLst>
      <p:ext uri="{BB962C8B-B14F-4D97-AF65-F5344CB8AC3E}">
        <p14:creationId xmlns:p14="http://schemas.microsoft.com/office/powerpoint/2010/main" val="3981497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raveling QuickSort: The Fast and Versatile Sorting Algorithm | by Nathal  Dawson | Medium">
            <a:extLst>
              <a:ext uri="{FF2B5EF4-FFF2-40B4-BE49-F238E27FC236}">
                <a16:creationId xmlns:a16="http://schemas.microsoft.com/office/drawing/2014/main" id="{C5128671-02E4-2780-F674-DD47AD8E76B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5429" y="637201"/>
            <a:ext cx="7718548" cy="5484584"/>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274D6A6D-8F86-78C3-5215-D3374E19DE84}"/>
              </a:ext>
            </a:extLst>
          </p:cNvPr>
          <p:cNvCxnSpPr>
            <a:cxnSpLocks/>
          </p:cNvCxnSpPr>
          <p:nvPr/>
        </p:nvCxnSpPr>
        <p:spPr>
          <a:xfrm flipH="1">
            <a:off x="4722312" y="1728592"/>
            <a:ext cx="4747365" cy="85177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3E817214-0E7D-8100-A90E-281C3D5EED35}"/>
              </a:ext>
            </a:extLst>
          </p:cNvPr>
          <p:cNvCxnSpPr>
            <a:cxnSpLocks/>
          </p:cNvCxnSpPr>
          <p:nvPr/>
        </p:nvCxnSpPr>
        <p:spPr>
          <a:xfrm flipH="1">
            <a:off x="2943617" y="1753644"/>
            <a:ext cx="6551112" cy="2242159"/>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076CF22-5861-0C92-585D-3046ACC62551}"/>
              </a:ext>
            </a:extLst>
          </p:cNvPr>
          <p:cNvCxnSpPr>
            <a:cxnSpLocks/>
          </p:cNvCxnSpPr>
          <p:nvPr/>
        </p:nvCxnSpPr>
        <p:spPr>
          <a:xfrm flipH="1">
            <a:off x="6237962" y="1791222"/>
            <a:ext cx="3256767" cy="2279737"/>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916CF386-3675-C1FD-E949-D0588610E2C9}"/>
              </a:ext>
            </a:extLst>
          </p:cNvPr>
          <p:cNvSpPr/>
          <p:nvPr/>
        </p:nvSpPr>
        <p:spPr>
          <a:xfrm>
            <a:off x="9557359" y="1302707"/>
            <a:ext cx="2404997" cy="8267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Pivots are placed in their correct locations</a:t>
            </a:r>
          </a:p>
        </p:txBody>
      </p:sp>
    </p:spTree>
    <p:extLst>
      <p:ext uri="{BB962C8B-B14F-4D97-AF65-F5344CB8AC3E}">
        <p14:creationId xmlns:p14="http://schemas.microsoft.com/office/powerpoint/2010/main" val="133604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raveling QuickSort: The Fast and Versatile Sorting Algorithm | by Nathal  Dawson | Medium">
            <a:extLst>
              <a:ext uri="{FF2B5EF4-FFF2-40B4-BE49-F238E27FC236}">
                <a16:creationId xmlns:a16="http://schemas.microsoft.com/office/drawing/2014/main" id="{C5128671-02E4-2780-F674-DD47AD8E76B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76640" y="976835"/>
            <a:ext cx="7718548" cy="548458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916CF386-3675-C1FD-E949-D0588610E2C9}"/>
              </a:ext>
            </a:extLst>
          </p:cNvPr>
          <p:cNvSpPr/>
          <p:nvPr/>
        </p:nvSpPr>
        <p:spPr>
          <a:xfrm>
            <a:off x="178228" y="179301"/>
            <a:ext cx="6379326" cy="8267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dirty="0"/>
              <a:t>How to find 3</a:t>
            </a:r>
            <a:r>
              <a:rPr lang="en-SG" sz="2400" baseline="30000" dirty="0"/>
              <a:t>rd</a:t>
            </a:r>
            <a:r>
              <a:rPr lang="en-SG" sz="2400" dirty="0"/>
              <a:t> smallest element in an array?</a:t>
            </a:r>
          </a:p>
        </p:txBody>
      </p:sp>
      <p:sp>
        <p:nvSpPr>
          <p:cNvPr id="5" name="Rectangle 4">
            <a:extLst>
              <a:ext uri="{FF2B5EF4-FFF2-40B4-BE49-F238E27FC236}">
                <a16:creationId xmlns:a16="http://schemas.microsoft.com/office/drawing/2014/main" id="{B9C3FF62-3248-C77C-2F95-776473F8D0A2}"/>
              </a:ext>
            </a:extLst>
          </p:cNvPr>
          <p:cNvSpPr/>
          <p:nvPr/>
        </p:nvSpPr>
        <p:spPr>
          <a:xfrm>
            <a:off x="230481" y="1211267"/>
            <a:ext cx="4380708" cy="2524710"/>
          </a:xfrm>
          <a:prstGeom prst="rect">
            <a:avLst/>
          </a:pr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arenR"/>
            </a:pPr>
            <a:r>
              <a:rPr lang="en-SG" dirty="0">
                <a:solidFill>
                  <a:schemeClr val="tx2">
                    <a:lumMod val="90000"/>
                    <a:lumOff val="10000"/>
                  </a:schemeClr>
                </a:solidFill>
              </a:rPr>
              <a:t>First run = use "3" as pivot</a:t>
            </a:r>
          </a:p>
          <a:p>
            <a:pPr marL="342900" indent="-342900">
              <a:buAutoNum type="arabicParenR"/>
            </a:pPr>
            <a:r>
              <a:rPr lang="en-SG" dirty="0">
                <a:solidFill>
                  <a:schemeClr val="tx2">
                    <a:lumMod val="90000"/>
                    <a:lumOff val="10000"/>
                  </a:schemeClr>
                </a:solidFill>
              </a:rPr>
              <a:t>"3" correctly places </a:t>
            </a:r>
            <a:r>
              <a:rPr lang="en-SG" dirty="0">
                <a:solidFill>
                  <a:schemeClr val="tx2">
                    <a:lumMod val="90000"/>
                    <a:lumOff val="10000"/>
                  </a:schemeClr>
                </a:solidFill>
                <a:sym typeface="Wingdings" panose="05000000000000000000" pitchFamily="2" charset="2"/>
              </a:rPr>
              <a:t> at 5 </a:t>
            </a:r>
            <a:r>
              <a:rPr lang="en-SG" dirty="0" err="1">
                <a:solidFill>
                  <a:schemeClr val="tx2">
                    <a:lumMod val="90000"/>
                    <a:lumOff val="10000"/>
                  </a:schemeClr>
                </a:solidFill>
                <a:sym typeface="Wingdings" panose="05000000000000000000" pitchFamily="2" charset="2"/>
              </a:rPr>
              <a:t>th</a:t>
            </a:r>
            <a:r>
              <a:rPr lang="en-SG" dirty="0">
                <a:solidFill>
                  <a:schemeClr val="tx2">
                    <a:lumMod val="90000"/>
                    <a:lumOff val="10000"/>
                  </a:schemeClr>
                </a:solidFill>
                <a:sym typeface="Wingdings" panose="05000000000000000000" pitchFamily="2" charset="2"/>
              </a:rPr>
              <a:t> position</a:t>
            </a:r>
          </a:p>
          <a:p>
            <a:pPr marL="342900" indent="-342900">
              <a:buAutoNum type="arabicParenR"/>
            </a:pPr>
            <a:r>
              <a:rPr lang="en-SG" dirty="0">
                <a:solidFill>
                  <a:schemeClr val="tx2">
                    <a:lumMod val="90000"/>
                    <a:lumOff val="10000"/>
                  </a:schemeClr>
                </a:solidFill>
                <a:sym typeface="Wingdings" panose="05000000000000000000" pitchFamily="2" charset="2"/>
              </a:rPr>
              <a:t>Only need to perform quick-sort on left sub-array to find 3</a:t>
            </a:r>
            <a:r>
              <a:rPr lang="en-SG" baseline="30000" dirty="0">
                <a:solidFill>
                  <a:schemeClr val="tx2">
                    <a:lumMod val="90000"/>
                    <a:lumOff val="10000"/>
                  </a:schemeClr>
                </a:solidFill>
                <a:sym typeface="Wingdings" panose="05000000000000000000" pitchFamily="2" charset="2"/>
              </a:rPr>
              <a:t>rd</a:t>
            </a:r>
            <a:r>
              <a:rPr lang="en-SG" dirty="0">
                <a:solidFill>
                  <a:schemeClr val="tx2">
                    <a:lumMod val="90000"/>
                    <a:lumOff val="10000"/>
                  </a:schemeClr>
                </a:solidFill>
                <a:sym typeface="Wingdings" panose="05000000000000000000" pitchFamily="2" charset="2"/>
              </a:rPr>
              <a:t> position.</a:t>
            </a:r>
          </a:p>
          <a:p>
            <a:pPr marL="342900" indent="-342900">
              <a:buAutoNum type="arabicParenR"/>
            </a:pPr>
            <a:r>
              <a:rPr lang="en-SG" dirty="0" err="1">
                <a:solidFill>
                  <a:schemeClr val="tx2">
                    <a:lumMod val="90000"/>
                    <a:lumOff val="10000"/>
                  </a:schemeClr>
                </a:solidFill>
                <a:sym typeface="Wingdings" panose="05000000000000000000" pitchFamily="2" charset="2"/>
              </a:rPr>
              <a:t>Seond</a:t>
            </a:r>
            <a:r>
              <a:rPr lang="en-SG" dirty="0">
                <a:solidFill>
                  <a:schemeClr val="tx2">
                    <a:lumMod val="90000"/>
                    <a:lumOff val="10000"/>
                  </a:schemeClr>
                </a:solidFill>
                <a:sym typeface="Wingdings" panose="05000000000000000000" pitchFamily="2" charset="2"/>
              </a:rPr>
              <a:t> run = use 1 as pivot.</a:t>
            </a:r>
          </a:p>
          <a:p>
            <a:pPr marL="342900" indent="-342900">
              <a:buAutoNum type="arabicParenR"/>
            </a:pPr>
            <a:r>
              <a:rPr lang="en-SG" dirty="0">
                <a:solidFill>
                  <a:schemeClr val="tx2">
                    <a:lumMod val="90000"/>
                    <a:lumOff val="10000"/>
                  </a:schemeClr>
                </a:solidFill>
                <a:sym typeface="Wingdings" panose="05000000000000000000" pitchFamily="2" charset="2"/>
              </a:rPr>
              <a:t>"1" correctly placed at 3</a:t>
            </a:r>
            <a:r>
              <a:rPr lang="en-SG" baseline="30000" dirty="0">
                <a:solidFill>
                  <a:schemeClr val="tx2">
                    <a:lumMod val="90000"/>
                    <a:lumOff val="10000"/>
                  </a:schemeClr>
                </a:solidFill>
                <a:sym typeface="Wingdings" panose="05000000000000000000" pitchFamily="2" charset="2"/>
              </a:rPr>
              <a:t>rd</a:t>
            </a:r>
            <a:r>
              <a:rPr lang="en-SG" dirty="0">
                <a:solidFill>
                  <a:schemeClr val="tx2">
                    <a:lumMod val="90000"/>
                    <a:lumOff val="10000"/>
                  </a:schemeClr>
                </a:solidFill>
                <a:sym typeface="Wingdings" panose="05000000000000000000" pitchFamily="2" charset="2"/>
              </a:rPr>
              <a:t> position.</a:t>
            </a:r>
          </a:p>
          <a:p>
            <a:pPr marL="342900" indent="-342900">
              <a:buAutoNum type="arabicParenR"/>
            </a:pPr>
            <a:r>
              <a:rPr lang="en-SG" dirty="0">
                <a:solidFill>
                  <a:schemeClr val="tx2">
                    <a:lumMod val="90000"/>
                    <a:lumOff val="10000"/>
                  </a:schemeClr>
                </a:solidFill>
                <a:sym typeface="Wingdings" panose="05000000000000000000" pitchFamily="2" charset="2"/>
              </a:rPr>
              <a:t>STOP: 3</a:t>
            </a:r>
            <a:r>
              <a:rPr lang="en-SG" baseline="30000" dirty="0">
                <a:solidFill>
                  <a:schemeClr val="tx2">
                    <a:lumMod val="90000"/>
                    <a:lumOff val="10000"/>
                  </a:schemeClr>
                </a:solidFill>
                <a:sym typeface="Wingdings" panose="05000000000000000000" pitchFamily="2" charset="2"/>
              </a:rPr>
              <a:t>rd</a:t>
            </a:r>
            <a:r>
              <a:rPr lang="en-SG" dirty="0">
                <a:solidFill>
                  <a:schemeClr val="tx2">
                    <a:lumMod val="90000"/>
                    <a:lumOff val="10000"/>
                  </a:schemeClr>
                </a:solidFill>
                <a:sym typeface="Wingdings" panose="05000000000000000000" pitchFamily="2" charset="2"/>
              </a:rPr>
              <a:t> position found  its "1"</a:t>
            </a:r>
          </a:p>
          <a:p>
            <a:pPr marL="342900" indent="-342900">
              <a:buAutoNum type="arabicParenR"/>
            </a:pPr>
            <a:r>
              <a:rPr lang="en-SG" dirty="0">
                <a:solidFill>
                  <a:schemeClr val="tx2">
                    <a:lumMod val="90000"/>
                    <a:lumOff val="10000"/>
                  </a:schemeClr>
                </a:solidFill>
                <a:sym typeface="Wingdings" panose="05000000000000000000" pitchFamily="2" charset="2"/>
              </a:rPr>
              <a:t>No need to do the rest. </a:t>
            </a:r>
            <a:endParaRPr lang="en-SG" dirty="0">
              <a:solidFill>
                <a:schemeClr val="tx2">
                  <a:lumMod val="90000"/>
                  <a:lumOff val="10000"/>
                </a:schemeClr>
              </a:solidFill>
            </a:endParaRPr>
          </a:p>
        </p:txBody>
      </p:sp>
      <p:grpSp>
        <p:nvGrpSpPr>
          <p:cNvPr id="10" name="Group 9">
            <a:extLst>
              <a:ext uri="{FF2B5EF4-FFF2-40B4-BE49-F238E27FC236}">
                <a16:creationId xmlns:a16="http://schemas.microsoft.com/office/drawing/2014/main" id="{978F59E7-F519-1AED-8A02-70089CB656FC}"/>
              </a:ext>
            </a:extLst>
          </p:cNvPr>
          <p:cNvGrpSpPr/>
          <p:nvPr/>
        </p:nvGrpSpPr>
        <p:grpSpPr>
          <a:xfrm>
            <a:off x="3540034" y="5277394"/>
            <a:ext cx="2821577" cy="1136469"/>
            <a:chOff x="3540034" y="5277394"/>
            <a:chExt cx="2821577" cy="1136469"/>
          </a:xfrm>
        </p:grpSpPr>
        <p:cxnSp>
          <p:nvCxnSpPr>
            <p:cNvPr id="7" name="Straight Connector 6">
              <a:extLst>
                <a:ext uri="{FF2B5EF4-FFF2-40B4-BE49-F238E27FC236}">
                  <a16:creationId xmlns:a16="http://schemas.microsoft.com/office/drawing/2014/main" id="{33339DC2-DEAA-0009-1ECD-D8989A451503}"/>
                </a:ext>
              </a:extLst>
            </p:cNvPr>
            <p:cNvCxnSpPr/>
            <p:nvPr/>
          </p:nvCxnSpPr>
          <p:spPr>
            <a:xfrm>
              <a:off x="3566160" y="5277394"/>
              <a:ext cx="2795451" cy="1136469"/>
            </a:xfrm>
            <a:prstGeom prst="line">
              <a:avLst/>
            </a:prstGeom>
            <a:ln w="76200">
              <a:solidFill>
                <a:srgbClr val="960202">
                  <a:alpha val="25098"/>
                </a:srgb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974F062-F6BB-5BD2-BFDC-31D4C710EC28}"/>
                </a:ext>
              </a:extLst>
            </p:cNvPr>
            <p:cNvCxnSpPr>
              <a:cxnSpLocks/>
            </p:cNvCxnSpPr>
            <p:nvPr/>
          </p:nvCxnSpPr>
          <p:spPr>
            <a:xfrm flipH="1">
              <a:off x="3540034" y="5277394"/>
              <a:ext cx="2795451" cy="1136469"/>
            </a:xfrm>
            <a:prstGeom prst="line">
              <a:avLst/>
            </a:prstGeom>
            <a:ln w="76200">
              <a:solidFill>
                <a:srgbClr val="960202">
                  <a:alpha val="25098"/>
                </a:srgbClr>
              </a:solidFill>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47199898-F548-7845-61C7-6679E9409CD2}"/>
              </a:ext>
            </a:extLst>
          </p:cNvPr>
          <p:cNvGrpSpPr/>
          <p:nvPr/>
        </p:nvGrpSpPr>
        <p:grpSpPr>
          <a:xfrm>
            <a:off x="8216537" y="2664823"/>
            <a:ext cx="2821577" cy="3892731"/>
            <a:chOff x="3540034" y="5277394"/>
            <a:chExt cx="2821577" cy="1136469"/>
          </a:xfrm>
        </p:grpSpPr>
        <p:cxnSp>
          <p:nvCxnSpPr>
            <p:cNvPr id="13" name="Straight Connector 12">
              <a:extLst>
                <a:ext uri="{FF2B5EF4-FFF2-40B4-BE49-F238E27FC236}">
                  <a16:creationId xmlns:a16="http://schemas.microsoft.com/office/drawing/2014/main" id="{FAC962F4-69EE-6DAD-5A8F-05276F248B9B}"/>
                </a:ext>
              </a:extLst>
            </p:cNvPr>
            <p:cNvCxnSpPr/>
            <p:nvPr/>
          </p:nvCxnSpPr>
          <p:spPr>
            <a:xfrm>
              <a:off x="3566160" y="5277394"/>
              <a:ext cx="2795451" cy="1136469"/>
            </a:xfrm>
            <a:prstGeom prst="line">
              <a:avLst/>
            </a:prstGeom>
            <a:ln w="76200">
              <a:solidFill>
                <a:srgbClr val="960202">
                  <a:alpha val="25098"/>
                </a:srgb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01E0A03-CB8F-DF10-BEAD-395BFC56B432}"/>
                </a:ext>
              </a:extLst>
            </p:cNvPr>
            <p:cNvCxnSpPr>
              <a:cxnSpLocks/>
            </p:cNvCxnSpPr>
            <p:nvPr/>
          </p:nvCxnSpPr>
          <p:spPr>
            <a:xfrm flipH="1">
              <a:off x="3540034" y="5277394"/>
              <a:ext cx="2795451" cy="1136469"/>
            </a:xfrm>
            <a:prstGeom prst="line">
              <a:avLst/>
            </a:prstGeom>
            <a:ln w="76200">
              <a:solidFill>
                <a:srgbClr val="960202">
                  <a:alpha val="25098"/>
                </a:srgb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84598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DB7E0C-83D4-C0FA-398B-8A9B3A97FF61}"/>
              </a:ext>
            </a:extLst>
          </p:cNvPr>
          <p:cNvSpPr/>
          <p:nvPr/>
        </p:nvSpPr>
        <p:spPr>
          <a:xfrm>
            <a:off x="839243" y="388307"/>
            <a:ext cx="10509337" cy="6175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3200" dirty="0">
                <a:solidFill>
                  <a:schemeClr val="tx1"/>
                </a:solidFill>
              </a:rPr>
              <a:t>1.a) Implement Recursive Quick Sort</a:t>
            </a:r>
          </a:p>
        </p:txBody>
      </p:sp>
      <p:pic>
        <p:nvPicPr>
          <p:cNvPr id="4" name="Picture 3">
            <a:extLst>
              <a:ext uri="{FF2B5EF4-FFF2-40B4-BE49-F238E27FC236}">
                <a16:creationId xmlns:a16="http://schemas.microsoft.com/office/drawing/2014/main" id="{FD70951E-238E-A2C4-F242-CD271AA756E1}"/>
              </a:ext>
            </a:extLst>
          </p:cNvPr>
          <p:cNvPicPr>
            <a:picLocks noChangeAspect="1"/>
          </p:cNvPicPr>
          <p:nvPr/>
        </p:nvPicPr>
        <p:blipFill>
          <a:blip r:embed="rId2"/>
          <a:stretch>
            <a:fillRect/>
          </a:stretch>
        </p:blipFill>
        <p:spPr>
          <a:xfrm>
            <a:off x="1148690" y="1865622"/>
            <a:ext cx="4458322" cy="2353003"/>
          </a:xfrm>
          <a:prstGeom prst="rect">
            <a:avLst/>
          </a:prstGeom>
        </p:spPr>
      </p:pic>
      <p:sp>
        <p:nvSpPr>
          <p:cNvPr id="5" name="Rectangle 4">
            <a:extLst>
              <a:ext uri="{FF2B5EF4-FFF2-40B4-BE49-F238E27FC236}">
                <a16:creationId xmlns:a16="http://schemas.microsoft.com/office/drawing/2014/main" id="{F0539537-7C84-33A0-BF4E-9202FA951557}"/>
              </a:ext>
            </a:extLst>
          </p:cNvPr>
          <p:cNvSpPr/>
          <p:nvPr/>
        </p:nvSpPr>
        <p:spPr>
          <a:xfrm>
            <a:off x="1202499" y="1341716"/>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a:solidFill>
                  <a:schemeClr val="tx1"/>
                </a:solidFill>
              </a:rPr>
              <a:t>quick</a:t>
            </a:r>
            <a:r>
              <a:rPr lang="en-SG" sz="2400" dirty="0">
                <a:solidFill>
                  <a:schemeClr val="tx1"/>
                </a:solidFill>
              </a:rPr>
              <a:t>_sort.cpp</a:t>
            </a:r>
          </a:p>
        </p:txBody>
      </p:sp>
      <p:sp>
        <p:nvSpPr>
          <p:cNvPr id="8" name="Rectangle 7">
            <a:extLst>
              <a:ext uri="{FF2B5EF4-FFF2-40B4-BE49-F238E27FC236}">
                <a16:creationId xmlns:a16="http://schemas.microsoft.com/office/drawing/2014/main" id="{E6C3A69E-FBB4-6A9C-7C9F-C5B81FD4591C}"/>
              </a:ext>
            </a:extLst>
          </p:cNvPr>
          <p:cNvSpPr/>
          <p:nvPr/>
        </p:nvSpPr>
        <p:spPr>
          <a:xfrm>
            <a:off x="6438379" y="1379294"/>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a:t>
            </a:r>
            <a:r>
              <a:rPr lang="en-SG" sz="2400" dirty="0" err="1">
                <a:solidFill>
                  <a:schemeClr val="tx1"/>
                </a:solidFill>
              </a:rPr>
              <a:t>quick_sort.out</a:t>
            </a:r>
            <a:r>
              <a:rPr lang="en-SG" sz="2400" dirty="0">
                <a:solidFill>
                  <a:schemeClr val="tx1"/>
                </a:solidFill>
              </a:rPr>
              <a:t> &lt;test.dat</a:t>
            </a:r>
          </a:p>
        </p:txBody>
      </p:sp>
      <p:pic>
        <p:nvPicPr>
          <p:cNvPr id="10" name="Picture 9">
            <a:extLst>
              <a:ext uri="{FF2B5EF4-FFF2-40B4-BE49-F238E27FC236}">
                <a16:creationId xmlns:a16="http://schemas.microsoft.com/office/drawing/2014/main" id="{A8969F86-2322-20F2-3EFF-A06550AB3AA1}"/>
              </a:ext>
            </a:extLst>
          </p:cNvPr>
          <p:cNvPicPr>
            <a:picLocks noChangeAspect="1"/>
          </p:cNvPicPr>
          <p:nvPr/>
        </p:nvPicPr>
        <p:blipFill>
          <a:blip r:embed="rId3"/>
          <a:stretch>
            <a:fillRect/>
          </a:stretch>
        </p:blipFill>
        <p:spPr>
          <a:xfrm>
            <a:off x="6530301" y="1872694"/>
            <a:ext cx="4667901" cy="2915057"/>
          </a:xfrm>
          <a:prstGeom prst="rect">
            <a:avLst/>
          </a:prstGeom>
        </p:spPr>
      </p:pic>
      <p:sp>
        <p:nvSpPr>
          <p:cNvPr id="13" name="Rectangle 12">
            <a:extLst>
              <a:ext uri="{FF2B5EF4-FFF2-40B4-BE49-F238E27FC236}">
                <a16:creationId xmlns:a16="http://schemas.microsoft.com/office/drawing/2014/main" id="{20119E2D-89E0-0546-8856-5C232ACD55EE}"/>
              </a:ext>
            </a:extLst>
          </p:cNvPr>
          <p:cNvSpPr/>
          <p:nvPr/>
        </p:nvSpPr>
        <p:spPr>
          <a:xfrm>
            <a:off x="1202499" y="4423119"/>
            <a:ext cx="4359057" cy="57619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Insert your codes to call </a:t>
            </a:r>
            <a:r>
              <a:rPr lang="en-SG" sz="2000" dirty="0" err="1">
                <a:solidFill>
                  <a:schemeClr val="tx1"/>
                </a:solidFill>
              </a:rPr>
              <a:t>QuickSort</a:t>
            </a:r>
            <a:r>
              <a:rPr lang="en-SG" sz="2000" dirty="0">
                <a:solidFill>
                  <a:schemeClr val="tx1"/>
                </a:solidFill>
              </a:rPr>
              <a:t>( ) recursively.</a:t>
            </a:r>
          </a:p>
        </p:txBody>
      </p:sp>
      <p:sp>
        <p:nvSpPr>
          <p:cNvPr id="14" name="Rectangle 13">
            <a:extLst>
              <a:ext uri="{FF2B5EF4-FFF2-40B4-BE49-F238E27FC236}">
                <a16:creationId xmlns:a16="http://schemas.microsoft.com/office/drawing/2014/main" id="{988848E1-CB7F-8D7F-B432-8EEF8621C57A}"/>
              </a:ext>
            </a:extLst>
          </p:cNvPr>
          <p:cNvSpPr/>
          <p:nvPr/>
        </p:nvSpPr>
        <p:spPr>
          <a:xfrm>
            <a:off x="1202499" y="5149629"/>
            <a:ext cx="4359057" cy="57619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Do not remove these.</a:t>
            </a:r>
          </a:p>
        </p:txBody>
      </p:sp>
      <p:sp>
        <p:nvSpPr>
          <p:cNvPr id="15" name="Rectangle 14">
            <a:extLst>
              <a:ext uri="{FF2B5EF4-FFF2-40B4-BE49-F238E27FC236}">
                <a16:creationId xmlns:a16="http://schemas.microsoft.com/office/drawing/2014/main" id="{81D2C554-200D-0F20-F2BE-0128D5FC7F78}"/>
              </a:ext>
            </a:extLst>
          </p:cNvPr>
          <p:cNvSpPr/>
          <p:nvPr/>
        </p:nvSpPr>
        <p:spPr>
          <a:xfrm>
            <a:off x="1202499" y="3208094"/>
            <a:ext cx="4359057" cy="413359"/>
          </a:xfrm>
          <a:prstGeom prst="rect">
            <a:avLst/>
          </a:prstGeom>
          <a:no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7" name="Connector: Elbow 16">
            <a:extLst>
              <a:ext uri="{FF2B5EF4-FFF2-40B4-BE49-F238E27FC236}">
                <a16:creationId xmlns:a16="http://schemas.microsoft.com/office/drawing/2014/main" id="{6CACD569-3DA9-E35E-98A7-8247A189AF55}"/>
              </a:ext>
            </a:extLst>
          </p:cNvPr>
          <p:cNvCxnSpPr>
            <a:stCxn id="15" idx="1"/>
            <a:endCxn id="13" idx="1"/>
          </p:cNvCxnSpPr>
          <p:nvPr/>
        </p:nvCxnSpPr>
        <p:spPr>
          <a:xfrm rot="10800000" flipV="1">
            <a:off x="1202499" y="3414774"/>
            <a:ext cx="12700" cy="1296444"/>
          </a:xfrm>
          <a:prstGeom prst="bentConnector3">
            <a:avLst>
              <a:gd name="adj1" fmla="val 1800000"/>
            </a:avLst>
          </a:prstGeom>
          <a:ln>
            <a:solidFill>
              <a:schemeClr val="accent5">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FCDC34C9-BC19-CA1E-2F5F-A0330EF258D3}"/>
              </a:ext>
            </a:extLst>
          </p:cNvPr>
          <p:cNvSpPr/>
          <p:nvPr/>
        </p:nvSpPr>
        <p:spPr>
          <a:xfrm>
            <a:off x="1202499" y="2231064"/>
            <a:ext cx="4359057" cy="6388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0" name="Connector: Elbow 19">
            <a:extLst>
              <a:ext uri="{FF2B5EF4-FFF2-40B4-BE49-F238E27FC236}">
                <a16:creationId xmlns:a16="http://schemas.microsoft.com/office/drawing/2014/main" id="{1A5E46BD-DD03-7CB1-988E-B6F70FE335C3}"/>
              </a:ext>
            </a:extLst>
          </p:cNvPr>
          <p:cNvCxnSpPr>
            <a:cxnSpLocks/>
            <a:stCxn id="19" idx="1"/>
            <a:endCxn id="14" idx="1"/>
          </p:cNvCxnSpPr>
          <p:nvPr/>
        </p:nvCxnSpPr>
        <p:spPr>
          <a:xfrm rot="10800000" flipV="1">
            <a:off x="1202499" y="2550478"/>
            <a:ext cx="12700" cy="2887250"/>
          </a:xfrm>
          <a:prstGeom prst="bentConnector3">
            <a:avLst>
              <a:gd name="adj1" fmla="val 2983559"/>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4" name="Arrow: Right 23">
            <a:extLst>
              <a:ext uri="{FF2B5EF4-FFF2-40B4-BE49-F238E27FC236}">
                <a16:creationId xmlns:a16="http://schemas.microsoft.com/office/drawing/2014/main" id="{27461C1F-A1F0-4D33-70D9-149291C88A08}"/>
              </a:ext>
            </a:extLst>
          </p:cNvPr>
          <p:cNvSpPr/>
          <p:nvPr/>
        </p:nvSpPr>
        <p:spPr>
          <a:xfrm>
            <a:off x="5761972" y="3082834"/>
            <a:ext cx="563671" cy="413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Rectangle 25">
            <a:extLst>
              <a:ext uri="{FF2B5EF4-FFF2-40B4-BE49-F238E27FC236}">
                <a16:creationId xmlns:a16="http://schemas.microsoft.com/office/drawing/2014/main" id="{4513BBB1-DC23-D82F-ED51-4ECA1BD7E622}"/>
              </a:ext>
            </a:extLst>
          </p:cNvPr>
          <p:cNvSpPr/>
          <p:nvPr/>
        </p:nvSpPr>
        <p:spPr>
          <a:xfrm>
            <a:off x="6526061" y="4961738"/>
            <a:ext cx="4647155" cy="57619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Run and generate output showing inputs to each recursive calls.</a:t>
            </a:r>
          </a:p>
        </p:txBody>
      </p:sp>
      <p:sp>
        <p:nvSpPr>
          <p:cNvPr id="28" name="Rectangle 27">
            <a:extLst>
              <a:ext uri="{FF2B5EF4-FFF2-40B4-BE49-F238E27FC236}">
                <a16:creationId xmlns:a16="http://schemas.microsoft.com/office/drawing/2014/main" id="{EE095EF4-A04E-6C2B-FACE-20DB52E4EBE1}"/>
              </a:ext>
            </a:extLst>
          </p:cNvPr>
          <p:cNvSpPr/>
          <p:nvPr/>
        </p:nvSpPr>
        <p:spPr>
          <a:xfrm>
            <a:off x="6488482" y="2744630"/>
            <a:ext cx="4823951" cy="2127815"/>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9" name="Connector: Elbow 28">
            <a:extLst>
              <a:ext uri="{FF2B5EF4-FFF2-40B4-BE49-F238E27FC236}">
                <a16:creationId xmlns:a16="http://schemas.microsoft.com/office/drawing/2014/main" id="{9162FBC0-C73A-0890-BAF2-F14FD9E8ABF3}"/>
              </a:ext>
            </a:extLst>
          </p:cNvPr>
          <p:cNvCxnSpPr>
            <a:cxnSpLocks/>
            <a:stCxn id="28" idx="3"/>
            <a:endCxn id="26" idx="3"/>
          </p:cNvCxnSpPr>
          <p:nvPr/>
        </p:nvCxnSpPr>
        <p:spPr>
          <a:xfrm flipH="1">
            <a:off x="11173216" y="3808538"/>
            <a:ext cx="139217" cy="1441299"/>
          </a:xfrm>
          <a:prstGeom prst="bentConnector3">
            <a:avLst>
              <a:gd name="adj1" fmla="val -164204"/>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2C882BA5-EB47-FEB5-F16F-E1BAE41F716D}"/>
              </a:ext>
            </a:extLst>
          </p:cNvPr>
          <p:cNvSpPr/>
          <p:nvPr/>
        </p:nvSpPr>
        <p:spPr>
          <a:xfrm>
            <a:off x="5624187" y="2682000"/>
            <a:ext cx="914400" cy="3632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dirty="0">
                <a:solidFill>
                  <a:schemeClr val="tx1"/>
                </a:solidFill>
              </a:rPr>
              <a:t>&gt; make</a:t>
            </a:r>
          </a:p>
        </p:txBody>
      </p:sp>
      <p:sp>
        <p:nvSpPr>
          <p:cNvPr id="36" name="Rectangle 35">
            <a:extLst>
              <a:ext uri="{FF2B5EF4-FFF2-40B4-BE49-F238E27FC236}">
                <a16:creationId xmlns:a16="http://schemas.microsoft.com/office/drawing/2014/main" id="{5C65A97F-97CD-B3FF-5EA4-CB64DD2067A6}"/>
              </a:ext>
            </a:extLst>
          </p:cNvPr>
          <p:cNvSpPr/>
          <p:nvPr/>
        </p:nvSpPr>
        <p:spPr>
          <a:xfrm>
            <a:off x="6257108" y="5760719"/>
            <a:ext cx="5290457" cy="757646"/>
          </a:xfrm>
          <a:prstGeom prst="rect">
            <a:avLst/>
          </a:prstGeom>
          <a:solidFill>
            <a:srgbClr val="FFFF66">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563" indent="-182563">
              <a:buFontTx/>
              <a:buChar char="-"/>
            </a:pPr>
            <a:r>
              <a:rPr lang="en-SG" sz="2400" dirty="0">
                <a:solidFill>
                  <a:schemeClr val="tx1"/>
                </a:solidFill>
              </a:rPr>
              <a:t>Upload modified quick_sort.cpp to </a:t>
            </a:r>
            <a:r>
              <a:rPr lang="en-SG" sz="2400" dirty="0" err="1">
                <a:solidFill>
                  <a:schemeClr val="tx1"/>
                </a:solidFill>
              </a:rPr>
              <a:t>gradescope</a:t>
            </a:r>
            <a:r>
              <a:rPr lang="en-SG" sz="2400" dirty="0">
                <a:solidFill>
                  <a:schemeClr val="tx1"/>
                </a:solidFill>
              </a:rPr>
              <a:t>.</a:t>
            </a:r>
          </a:p>
        </p:txBody>
      </p:sp>
    </p:spTree>
    <p:extLst>
      <p:ext uri="{BB962C8B-B14F-4D97-AF65-F5344CB8AC3E}">
        <p14:creationId xmlns:p14="http://schemas.microsoft.com/office/powerpoint/2010/main" val="3150742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0687365-DB8E-39A7-7CC3-F6EE289F7A18}"/>
              </a:ext>
            </a:extLst>
          </p:cNvPr>
          <p:cNvPicPr>
            <a:picLocks noChangeAspect="1"/>
          </p:cNvPicPr>
          <p:nvPr/>
        </p:nvPicPr>
        <p:blipFill>
          <a:blip r:embed="rId2"/>
          <a:stretch>
            <a:fillRect/>
          </a:stretch>
        </p:blipFill>
        <p:spPr>
          <a:xfrm>
            <a:off x="891479" y="2125493"/>
            <a:ext cx="4745233" cy="2918046"/>
          </a:xfrm>
          <a:prstGeom prst="rect">
            <a:avLst/>
          </a:prstGeom>
        </p:spPr>
      </p:pic>
      <p:sp>
        <p:nvSpPr>
          <p:cNvPr id="2" name="Rectangle 1">
            <a:extLst>
              <a:ext uri="{FF2B5EF4-FFF2-40B4-BE49-F238E27FC236}">
                <a16:creationId xmlns:a16="http://schemas.microsoft.com/office/drawing/2014/main" id="{61DB7E0C-83D4-C0FA-398B-8A9B3A97FF61}"/>
              </a:ext>
            </a:extLst>
          </p:cNvPr>
          <p:cNvSpPr/>
          <p:nvPr/>
        </p:nvSpPr>
        <p:spPr>
          <a:xfrm>
            <a:off x="926925" y="400833"/>
            <a:ext cx="10509337" cy="8267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3200" dirty="0">
                <a:solidFill>
                  <a:schemeClr val="tx1"/>
                </a:solidFill>
              </a:rPr>
              <a:t>1.b) Find K</a:t>
            </a:r>
            <a:r>
              <a:rPr lang="en-SG" sz="3200" baseline="30000" dirty="0">
                <a:solidFill>
                  <a:schemeClr val="tx1"/>
                </a:solidFill>
              </a:rPr>
              <a:t>th</a:t>
            </a:r>
            <a:r>
              <a:rPr lang="en-SG" sz="3200" dirty="0">
                <a:solidFill>
                  <a:schemeClr val="tx1"/>
                </a:solidFill>
              </a:rPr>
              <a:t> minimum element using Quick Sort method</a:t>
            </a:r>
          </a:p>
        </p:txBody>
      </p:sp>
      <p:sp>
        <p:nvSpPr>
          <p:cNvPr id="4" name="Rectangle 3">
            <a:extLst>
              <a:ext uri="{FF2B5EF4-FFF2-40B4-BE49-F238E27FC236}">
                <a16:creationId xmlns:a16="http://schemas.microsoft.com/office/drawing/2014/main" id="{7FF0EF27-4C71-E970-AABB-130E19BC87F7}"/>
              </a:ext>
            </a:extLst>
          </p:cNvPr>
          <p:cNvSpPr/>
          <p:nvPr/>
        </p:nvSpPr>
        <p:spPr>
          <a:xfrm>
            <a:off x="989556" y="1603331"/>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kthSmallest.cpp</a:t>
            </a:r>
          </a:p>
        </p:txBody>
      </p:sp>
      <p:sp>
        <p:nvSpPr>
          <p:cNvPr id="5" name="Rectangle 4">
            <a:extLst>
              <a:ext uri="{FF2B5EF4-FFF2-40B4-BE49-F238E27FC236}">
                <a16:creationId xmlns:a16="http://schemas.microsoft.com/office/drawing/2014/main" id="{FCDACC25-6CFC-6348-13AF-AF2D20570092}"/>
              </a:ext>
            </a:extLst>
          </p:cNvPr>
          <p:cNvSpPr/>
          <p:nvPr/>
        </p:nvSpPr>
        <p:spPr>
          <a:xfrm>
            <a:off x="6438379" y="1392357"/>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 </a:t>
            </a:r>
            <a:r>
              <a:rPr lang="en-SG" sz="2400" dirty="0" err="1">
                <a:solidFill>
                  <a:schemeClr val="tx1"/>
                </a:solidFill>
              </a:rPr>
              <a:t>kthSmallest.out</a:t>
            </a:r>
            <a:r>
              <a:rPr lang="en-SG" sz="2400" dirty="0">
                <a:solidFill>
                  <a:schemeClr val="tx1"/>
                </a:solidFill>
              </a:rPr>
              <a:t> &lt;test.dat</a:t>
            </a:r>
          </a:p>
        </p:txBody>
      </p:sp>
      <p:sp>
        <p:nvSpPr>
          <p:cNvPr id="7" name="Rectangle 6">
            <a:extLst>
              <a:ext uri="{FF2B5EF4-FFF2-40B4-BE49-F238E27FC236}">
                <a16:creationId xmlns:a16="http://schemas.microsoft.com/office/drawing/2014/main" id="{4C552C0B-78B1-FACD-A0EF-79BEA116BA7A}"/>
              </a:ext>
            </a:extLst>
          </p:cNvPr>
          <p:cNvSpPr/>
          <p:nvPr/>
        </p:nvSpPr>
        <p:spPr>
          <a:xfrm>
            <a:off x="1077238" y="5148197"/>
            <a:ext cx="4359057" cy="57619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Insert your codes to call </a:t>
            </a:r>
            <a:r>
              <a:rPr lang="en-SG" sz="2000" dirty="0" err="1">
                <a:solidFill>
                  <a:schemeClr val="tx1"/>
                </a:solidFill>
              </a:rPr>
              <a:t>kthSmallest</a:t>
            </a:r>
            <a:r>
              <a:rPr lang="en-SG" sz="2000" dirty="0">
                <a:solidFill>
                  <a:schemeClr val="tx1"/>
                </a:solidFill>
              </a:rPr>
              <a:t> ( ) recursively.</a:t>
            </a:r>
          </a:p>
        </p:txBody>
      </p:sp>
      <p:sp>
        <p:nvSpPr>
          <p:cNvPr id="8" name="Rectangle 7">
            <a:extLst>
              <a:ext uri="{FF2B5EF4-FFF2-40B4-BE49-F238E27FC236}">
                <a16:creationId xmlns:a16="http://schemas.microsoft.com/office/drawing/2014/main" id="{6A142B49-3A0E-A3F3-2C94-C57D0EB16045}"/>
              </a:ext>
            </a:extLst>
          </p:cNvPr>
          <p:cNvSpPr/>
          <p:nvPr/>
        </p:nvSpPr>
        <p:spPr>
          <a:xfrm>
            <a:off x="1077238" y="5874707"/>
            <a:ext cx="4359057" cy="57619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Do not remove these.</a:t>
            </a:r>
          </a:p>
        </p:txBody>
      </p:sp>
      <p:sp>
        <p:nvSpPr>
          <p:cNvPr id="9" name="Rectangle 8">
            <a:extLst>
              <a:ext uri="{FF2B5EF4-FFF2-40B4-BE49-F238E27FC236}">
                <a16:creationId xmlns:a16="http://schemas.microsoft.com/office/drawing/2014/main" id="{F35CEFCD-58E9-E0A3-74A9-E2B370D77308}"/>
              </a:ext>
            </a:extLst>
          </p:cNvPr>
          <p:cNvSpPr/>
          <p:nvPr/>
        </p:nvSpPr>
        <p:spPr>
          <a:xfrm>
            <a:off x="989556" y="3883068"/>
            <a:ext cx="4572000" cy="413359"/>
          </a:xfrm>
          <a:prstGeom prst="rect">
            <a:avLst/>
          </a:prstGeom>
          <a:no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 name="Connector: Elbow 9">
            <a:extLst>
              <a:ext uri="{FF2B5EF4-FFF2-40B4-BE49-F238E27FC236}">
                <a16:creationId xmlns:a16="http://schemas.microsoft.com/office/drawing/2014/main" id="{A1EDDCDD-CAD0-E0C6-0D03-8669930D2050}"/>
              </a:ext>
            </a:extLst>
          </p:cNvPr>
          <p:cNvCxnSpPr>
            <a:cxnSpLocks/>
            <a:stCxn id="9" idx="1"/>
            <a:endCxn id="7" idx="1"/>
          </p:cNvCxnSpPr>
          <p:nvPr/>
        </p:nvCxnSpPr>
        <p:spPr>
          <a:xfrm rot="10800000" flipH="1" flipV="1">
            <a:off x="989556" y="4089748"/>
            <a:ext cx="87682" cy="1346548"/>
          </a:xfrm>
          <a:prstGeom prst="bentConnector3">
            <a:avLst>
              <a:gd name="adj1" fmla="val -260715"/>
            </a:avLst>
          </a:prstGeom>
          <a:ln>
            <a:solidFill>
              <a:schemeClr val="accent5">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281BB8FA-E503-B5E8-2E4C-8E4C1CA92E72}"/>
              </a:ext>
            </a:extLst>
          </p:cNvPr>
          <p:cNvSpPr/>
          <p:nvPr/>
        </p:nvSpPr>
        <p:spPr>
          <a:xfrm>
            <a:off x="989556" y="2793303"/>
            <a:ext cx="4572000" cy="6388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2" name="Connector: Elbow 11">
            <a:extLst>
              <a:ext uri="{FF2B5EF4-FFF2-40B4-BE49-F238E27FC236}">
                <a16:creationId xmlns:a16="http://schemas.microsoft.com/office/drawing/2014/main" id="{77254A4F-FDDE-C9BC-A8F7-2CCDC9A74D44}"/>
              </a:ext>
            </a:extLst>
          </p:cNvPr>
          <p:cNvCxnSpPr>
            <a:cxnSpLocks/>
            <a:stCxn id="11" idx="1"/>
            <a:endCxn id="8" idx="1"/>
          </p:cNvCxnSpPr>
          <p:nvPr/>
        </p:nvCxnSpPr>
        <p:spPr>
          <a:xfrm rot="10800000" flipH="1" flipV="1">
            <a:off x="989556" y="3112716"/>
            <a:ext cx="87682" cy="3050089"/>
          </a:xfrm>
          <a:prstGeom prst="bentConnector3">
            <a:avLst>
              <a:gd name="adj1" fmla="val -460716"/>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3" name="Arrow: Right 12">
            <a:extLst>
              <a:ext uri="{FF2B5EF4-FFF2-40B4-BE49-F238E27FC236}">
                <a16:creationId xmlns:a16="http://schemas.microsoft.com/office/drawing/2014/main" id="{B9AC6D46-33B2-B4A0-8304-0A330A048337}"/>
              </a:ext>
            </a:extLst>
          </p:cNvPr>
          <p:cNvSpPr/>
          <p:nvPr/>
        </p:nvSpPr>
        <p:spPr>
          <a:xfrm>
            <a:off x="5812077" y="3331923"/>
            <a:ext cx="450938" cy="413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13">
            <a:extLst>
              <a:ext uri="{FF2B5EF4-FFF2-40B4-BE49-F238E27FC236}">
                <a16:creationId xmlns:a16="http://schemas.microsoft.com/office/drawing/2014/main" id="{7AE2B1F8-F98A-FFC1-FC5D-90E93DE78FED}"/>
              </a:ext>
            </a:extLst>
          </p:cNvPr>
          <p:cNvSpPr/>
          <p:nvPr/>
        </p:nvSpPr>
        <p:spPr>
          <a:xfrm>
            <a:off x="6526061" y="4160608"/>
            <a:ext cx="4647155" cy="1327759"/>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Run and generate output showing inputs to each recursive calls (Note: only partial sort is performed). K</a:t>
            </a:r>
            <a:r>
              <a:rPr lang="en-SG" sz="2000" baseline="30000" dirty="0">
                <a:solidFill>
                  <a:schemeClr val="tx1"/>
                </a:solidFill>
              </a:rPr>
              <a:t>th</a:t>
            </a:r>
            <a:r>
              <a:rPr lang="en-SG" sz="2000" dirty="0">
                <a:solidFill>
                  <a:schemeClr val="tx1"/>
                </a:solidFill>
              </a:rPr>
              <a:t> smallest element is output.</a:t>
            </a:r>
          </a:p>
        </p:txBody>
      </p:sp>
      <p:sp>
        <p:nvSpPr>
          <p:cNvPr id="15" name="Rectangle 14">
            <a:extLst>
              <a:ext uri="{FF2B5EF4-FFF2-40B4-BE49-F238E27FC236}">
                <a16:creationId xmlns:a16="http://schemas.microsoft.com/office/drawing/2014/main" id="{B04C1A0B-076B-28F9-373D-E3EE0FB11FFB}"/>
              </a:ext>
            </a:extLst>
          </p:cNvPr>
          <p:cNvSpPr/>
          <p:nvPr/>
        </p:nvSpPr>
        <p:spPr>
          <a:xfrm>
            <a:off x="6488483" y="1981081"/>
            <a:ext cx="4672208" cy="2029217"/>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6" name="Connector: Elbow 15">
            <a:extLst>
              <a:ext uri="{FF2B5EF4-FFF2-40B4-BE49-F238E27FC236}">
                <a16:creationId xmlns:a16="http://schemas.microsoft.com/office/drawing/2014/main" id="{969E5953-3716-8EFE-04BD-D6AEBE317BCD}"/>
              </a:ext>
            </a:extLst>
          </p:cNvPr>
          <p:cNvCxnSpPr>
            <a:cxnSpLocks/>
            <a:stCxn id="15" idx="3"/>
            <a:endCxn id="14" idx="3"/>
          </p:cNvCxnSpPr>
          <p:nvPr/>
        </p:nvCxnSpPr>
        <p:spPr>
          <a:xfrm>
            <a:off x="11160691" y="2995690"/>
            <a:ext cx="12525" cy="1828798"/>
          </a:xfrm>
          <a:prstGeom prst="bentConnector3">
            <a:avLst>
              <a:gd name="adj1" fmla="val 1925150"/>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825650B0-BBCD-D3FC-E4C4-B215ECFF532D}"/>
              </a:ext>
            </a:extLst>
          </p:cNvPr>
          <p:cNvSpPr/>
          <p:nvPr/>
        </p:nvSpPr>
        <p:spPr>
          <a:xfrm>
            <a:off x="5624187" y="2968667"/>
            <a:ext cx="914400" cy="3632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dirty="0">
                <a:solidFill>
                  <a:schemeClr val="tx1"/>
                </a:solidFill>
              </a:rPr>
              <a:t>&gt; make</a:t>
            </a:r>
          </a:p>
        </p:txBody>
      </p:sp>
      <p:pic>
        <p:nvPicPr>
          <p:cNvPr id="28" name="Picture 27">
            <a:extLst>
              <a:ext uri="{FF2B5EF4-FFF2-40B4-BE49-F238E27FC236}">
                <a16:creationId xmlns:a16="http://schemas.microsoft.com/office/drawing/2014/main" id="{1BCF4A36-C9EF-AA94-16D3-BE51EDE3F590}"/>
              </a:ext>
            </a:extLst>
          </p:cNvPr>
          <p:cNvPicPr>
            <a:picLocks noChangeAspect="1"/>
          </p:cNvPicPr>
          <p:nvPr/>
        </p:nvPicPr>
        <p:blipFill>
          <a:blip r:embed="rId3"/>
          <a:stretch>
            <a:fillRect/>
          </a:stretch>
        </p:blipFill>
        <p:spPr>
          <a:xfrm>
            <a:off x="6525356" y="2002347"/>
            <a:ext cx="4600938" cy="1957846"/>
          </a:xfrm>
          <a:prstGeom prst="rect">
            <a:avLst/>
          </a:prstGeom>
        </p:spPr>
      </p:pic>
      <p:sp>
        <p:nvSpPr>
          <p:cNvPr id="33" name="Rectangle 32">
            <a:extLst>
              <a:ext uri="{FF2B5EF4-FFF2-40B4-BE49-F238E27FC236}">
                <a16:creationId xmlns:a16="http://schemas.microsoft.com/office/drawing/2014/main" id="{AD0F55B2-0623-95EB-2A19-D84568E876E2}"/>
              </a:ext>
            </a:extLst>
          </p:cNvPr>
          <p:cNvSpPr/>
          <p:nvPr/>
        </p:nvSpPr>
        <p:spPr>
          <a:xfrm>
            <a:off x="6257108" y="5760719"/>
            <a:ext cx="5290457" cy="757646"/>
          </a:xfrm>
          <a:prstGeom prst="rect">
            <a:avLst/>
          </a:prstGeom>
          <a:solidFill>
            <a:srgbClr val="FFFF66">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563" indent="-182563">
              <a:buFontTx/>
              <a:buChar char="-"/>
            </a:pPr>
            <a:r>
              <a:rPr lang="en-SG" sz="2400" dirty="0">
                <a:solidFill>
                  <a:schemeClr val="tx1"/>
                </a:solidFill>
              </a:rPr>
              <a:t>Upload modified kthSmallest.cpp to </a:t>
            </a:r>
            <a:r>
              <a:rPr lang="en-SG" sz="2400" dirty="0" err="1">
                <a:solidFill>
                  <a:schemeClr val="tx1"/>
                </a:solidFill>
              </a:rPr>
              <a:t>gradescope</a:t>
            </a:r>
            <a:r>
              <a:rPr lang="en-SG" sz="2400" dirty="0">
                <a:solidFill>
                  <a:schemeClr val="tx1"/>
                </a:solidFill>
              </a:rPr>
              <a:t>.</a:t>
            </a:r>
          </a:p>
        </p:txBody>
      </p:sp>
    </p:spTree>
    <p:extLst>
      <p:ext uri="{BB962C8B-B14F-4D97-AF65-F5344CB8AC3E}">
        <p14:creationId xmlns:p14="http://schemas.microsoft.com/office/powerpoint/2010/main" val="1389191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78E38-41D6-A1F3-6A56-505654748586}"/>
              </a:ext>
            </a:extLst>
          </p:cNvPr>
          <p:cNvSpPr>
            <a:spLocks noGrp="1"/>
          </p:cNvSpPr>
          <p:nvPr>
            <p:ph type="title"/>
          </p:nvPr>
        </p:nvSpPr>
        <p:spPr>
          <a:xfrm>
            <a:off x="838200" y="2574925"/>
            <a:ext cx="10515600" cy="1325563"/>
          </a:xfrm>
        </p:spPr>
        <p:txBody>
          <a:bodyPr/>
          <a:lstStyle/>
          <a:p>
            <a:pPr algn="ctr"/>
            <a:r>
              <a:rPr lang="en-SG" dirty="0"/>
              <a:t>(2) Heap Sort</a:t>
            </a:r>
          </a:p>
        </p:txBody>
      </p:sp>
    </p:spTree>
    <p:extLst>
      <p:ext uri="{BB962C8B-B14F-4D97-AF65-F5344CB8AC3E}">
        <p14:creationId xmlns:p14="http://schemas.microsoft.com/office/powerpoint/2010/main" val="1505864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0B21BC-BA8C-FA62-B301-721FCB52EE52}"/>
              </a:ext>
            </a:extLst>
          </p:cNvPr>
          <p:cNvSpPr>
            <a:spLocks noGrp="1"/>
          </p:cNvSpPr>
          <p:nvPr>
            <p:ph type="title"/>
          </p:nvPr>
        </p:nvSpPr>
        <p:spPr>
          <a:xfrm>
            <a:off x="838200" y="365126"/>
            <a:ext cx="10515600" cy="692966"/>
          </a:xfrm>
        </p:spPr>
        <p:txBody>
          <a:bodyPr>
            <a:normAutofit fontScale="90000"/>
          </a:bodyPr>
          <a:lstStyle/>
          <a:p>
            <a:r>
              <a:rPr lang="en-SG" dirty="0"/>
              <a:t>What is Heap Sort?</a:t>
            </a:r>
          </a:p>
        </p:txBody>
      </p:sp>
      <p:sp>
        <p:nvSpPr>
          <p:cNvPr id="4" name="Content Placeholder 3">
            <a:extLst>
              <a:ext uri="{FF2B5EF4-FFF2-40B4-BE49-F238E27FC236}">
                <a16:creationId xmlns:a16="http://schemas.microsoft.com/office/drawing/2014/main" id="{A160FAEF-442A-9C49-1C49-71AC543527E8}"/>
              </a:ext>
            </a:extLst>
          </p:cNvPr>
          <p:cNvSpPr>
            <a:spLocks noGrp="1"/>
          </p:cNvSpPr>
          <p:nvPr>
            <p:ph idx="1"/>
          </p:nvPr>
        </p:nvSpPr>
        <p:spPr>
          <a:xfrm>
            <a:off x="851263" y="1106988"/>
            <a:ext cx="10515600" cy="5032554"/>
          </a:xfrm>
        </p:spPr>
        <p:txBody>
          <a:bodyPr>
            <a:normAutofit fontScale="92500" lnSpcReduction="20000"/>
          </a:bodyPr>
          <a:lstStyle/>
          <a:p>
            <a:pPr>
              <a:lnSpc>
                <a:spcPct val="110000"/>
              </a:lnSpc>
              <a:spcBef>
                <a:spcPts val="0"/>
              </a:spcBef>
            </a:pPr>
            <a:r>
              <a:rPr lang="en-SG" b="1" dirty="0"/>
              <a:t>Heap Sort</a:t>
            </a:r>
            <a:r>
              <a:rPr lang="en-SG" dirty="0"/>
              <a:t> is an efficient comparison-based sorting algorithm that uses a binary heap data structure. It organizes elements into a special tree-like structure (heap) and repeatedly extracts the smallest element to reverse-sort the array.</a:t>
            </a:r>
          </a:p>
          <a:p>
            <a:pPr>
              <a:lnSpc>
                <a:spcPct val="110000"/>
              </a:lnSpc>
              <a:spcBef>
                <a:spcPts val="0"/>
              </a:spcBef>
            </a:pPr>
            <a:r>
              <a:rPr lang="en-SG" dirty="0"/>
              <a:t>How It Works</a:t>
            </a:r>
          </a:p>
          <a:p>
            <a:pPr lvl="1">
              <a:lnSpc>
                <a:spcPct val="110000"/>
              </a:lnSpc>
              <a:spcBef>
                <a:spcPts val="0"/>
              </a:spcBef>
            </a:pPr>
            <a:r>
              <a:rPr lang="en-SG" dirty="0"/>
              <a:t>Build a Min-Heap:</a:t>
            </a:r>
          </a:p>
          <a:p>
            <a:pPr lvl="2">
              <a:lnSpc>
                <a:spcPct val="110000"/>
              </a:lnSpc>
              <a:spcBef>
                <a:spcPts val="0"/>
              </a:spcBef>
            </a:pPr>
            <a:r>
              <a:rPr lang="en-SG" dirty="0"/>
              <a:t>Rearrange the array into a min-heap, where the smallest element is at the root.</a:t>
            </a:r>
          </a:p>
          <a:p>
            <a:pPr lvl="2">
              <a:lnSpc>
                <a:spcPct val="110000"/>
              </a:lnSpc>
              <a:spcBef>
                <a:spcPts val="0"/>
              </a:spcBef>
            </a:pPr>
            <a:r>
              <a:rPr lang="en-SG" dirty="0"/>
              <a:t>A min-heap satisfies the property that every parent node is smallest than or equal to its child nodes.</a:t>
            </a:r>
          </a:p>
          <a:p>
            <a:pPr lvl="1">
              <a:lnSpc>
                <a:spcPct val="110000"/>
              </a:lnSpc>
              <a:spcBef>
                <a:spcPts val="0"/>
              </a:spcBef>
            </a:pPr>
            <a:r>
              <a:rPr lang="en-SG" dirty="0"/>
              <a:t>Extract the Smallest Element:</a:t>
            </a:r>
          </a:p>
          <a:p>
            <a:pPr lvl="2">
              <a:lnSpc>
                <a:spcPct val="110000"/>
              </a:lnSpc>
              <a:spcBef>
                <a:spcPts val="0"/>
              </a:spcBef>
            </a:pPr>
            <a:r>
              <a:rPr lang="en-SG" dirty="0"/>
              <a:t>Swap the root (largest element) with the last element in the array.</a:t>
            </a:r>
          </a:p>
          <a:p>
            <a:pPr lvl="2">
              <a:lnSpc>
                <a:spcPct val="110000"/>
              </a:lnSpc>
              <a:spcBef>
                <a:spcPts val="0"/>
              </a:spcBef>
            </a:pPr>
            <a:r>
              <a:rPr lang="en-SG" dirty="0"/>
              <a:t>Reduce the heap size and re-</a:t>
            </a:r>
            <a:r>
              <a:rPr lang="en-SG" dirty="0" err="1"/>
              <a:t>heapify</a:t>
            </a:r>
            <a:r>
              <a:rPr lang="en-SG" dirty="0"/>
              <a:t> to restore the min-heap property.</a:t>
            </a:r>
          </a:p>
          <a:p>
            <a:pPr lvl="1">
              <a:lnSpc>
                <a:spcPct val="110000"/>
              </a:lnSpc>
              <a:spcBef>
                <a:spcPts val="0"/>
              </a:spcBef>
            </a:pPr>
            <a:r>
              <a:rPr lang="en-SG" dirty="0"/>
              <a:t>Repeat:</a:t>
            </a:r>
          </a:p>
          <a:p>
            <a:pPr lvl="2">
              <a:lnSpc>
                <a:spcPct val="110000"/>
              </a:lnSpc>
              <a:spcBef>
                <a:spcPts val="0"/>
              </a:spcBef>
            </a:pPr>
            <a:r>
              <a:rPr lang="en-SG" dirty="0"/>
              <a:t>Continue extracting the root and </a:t>
            </a:r>
            <a:r>
              <a:rPr lang="en-SG" dirty="0" err="1"/>
              <a:t>heapifying</a:t>
            </a:r>
            <a:r>
              <a:rPr lang="en-SG" dirty="0"/>
              <a:t> until all elements are sorted.</a:t>
            </a:r>
          </a:p>
          <a:p>
            <a:pPr lvl="2">
              <a:lnSpc>
                <a:spcPct val="110000"/>
              </a:lnSpc>
              <a:spcBef>
                <a:spcPts val="0"/>
              </a:spcBef>
            </a:pPr>
            <a:r>
              <a:rPr lang="en-SG" dirty="0"/>
              <a:t>Result – a reversed sorted list.</a:t>
            </a:r>
          </a:p>
          <a:p>
            <a:pPr>
              <a:lnSpc>
                <a:spcPct val="110000"/>
              </a:lnSpc>
              <a:spcBef>
                <a:spcPts val="0"/>
              </a:spcBef>
            </a:pPr>
            <a:r>
              <a:rPr lang="en-SG" dirty="0"/>
              <a:t>Question : how do we sort the list smallest-to-largest? (Max-heap)</a:t>
            </a:r>
          </a:p>
        </p:txBody>
      </p:sp>
    </p:spTree>
    <p:extLst>
      <p:ext uri="{BB962C8B-B14F-4D97-AF65-F5344CB8AC3E}">
        <p14:creationId xmlns:p14="http://schemas.microsoft.com/office/powerpoint/2010/main" val="1303961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311573-1504-1EFF-B49A-B676CFD42D2D}"/>
              </a:ext>
            </a:extLst>
          </p:cNvPr>
          <p:cNvPicPr>
            <a:picLocks noChangeAspect="1"/>
          </p:cNvPicPr>
          <p:nvPr/>
        </p:nvPicPr>
        <p:blipFill>
          <a:blip r:embed="rId2"/>
          <a:srcRect t="22598" b="9075"/>
          <a:stretch>
            <a:fillRect/>
          </a:stretch>
        </p:blipFill>
        <p:spPr>
          <a:xfrm>
            <a:off x="339634" y="260095"/>
            <a:ext cx="4859383" cy="1660144"/>
          </a:xfrm>
          <a:prstGeom prst="rect">
            <a:avLst/>
          </a:prstGeom>
        </p:spPr>
      </p:pic>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BDBE3430-794C-546D-33FA-CD2403117FF7}"/>
                  </a:ext>
                </a:extLst>
              </p:cNvPr>
              <p:cNvSpPr txBox="1">
                <a:spLocks/>
              </p:cNvSpPr>
              <p:nvPr/>
            </p:nvSpPr>
            <p:spPr>
              <a:xfrm>
                <a:off x="274322" y="1946364"/>
                <a:ext cx="4990010" cy="14238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None/>
                </a:pPr>
                <a:r>
                  <a:rPr lang="en-SG" sz="1600" dirty="0"/>
                  <a:t>For any element  in a binary heap at offset </a:t>
                </a:r>
                <a14:m>
                  <m:oMath xmlns:m="http://schemas.openxmlformats.org/officeDocument/2006/math">
                    <m:r>
                      <a:rPr lang="en-SG" sz="1600" b="0" i="1" smtClean="0">
                        <a:latin typeface="Cambria Math" panose="02040503050406030204" pitchFamily="18" charset="0"/>
                      </a:rPr>
                      <m:t>𝑛</m:t>
                    </m:r>
                  </m:oMath>
                </a14:m>
                <a:r>
                  <a:rPr lang="en-SG" sz="1600" dirty="0"/>
                  <a:t>:</a:t>
                </a:r>
              </a:p>
              <a:p>
                <a:pPr>
                  <a:lnSpc>
                    <a:spcPct val="110000"/>
                  </a:lnSpc>
                  <a:spcBef>
                    <a:spcPts val="0"/>
                  </a:spcBef>
                </a:pPr>
                <a:r>
                  <a:rPr lang="en-SG" sz="1600" dirty="0"/>
                  <a:t>It's parent has offset </a:t>
                </a:r>
                <a14:m>
                  <m:oMath xmlns:m="http://schemas.openxmlformats.org/officeDocument/2006/math">
                    <m:d>
                      <m:dPr>
                        <m:begChr m:val="⌊"/>
                        <m:endChr m:val=""/>
                        <m:ctrlPr>
                          <a:rPr lang="en-SG" sz="1600" b="0" i="1" smtClean="0">
                            <a:latin typeface="Cambria Math" panose="02040503050406030204" pitchFamily="18" charset="0"/>
                          </a:rPr>
                        </m:ctrlPr>
                      </m:dPr>
                      <m:e>
                        <m:d>
                          <m:dPr>
                            <m:begChr m:val=""/>
                            <m:endChr m:val="⌋"/>
                            <m:ctrlPr>
                              <a:rPr lang="en-SG" sz="1600" b="0" i="1" smtClean="0">
                                <a:latin typeface="Cambria Math" panose="02040503050406030204" pitchFamily="18" charset="0"/>
                              </a:rPr>
                            </m:ctrlPr>
                          </m:dPr>
                          <m:e>
                            <m:f>
                              <m:fPr>
                                <m:ctrlPr>
                                  <a:rPr lang="en-SG" sz="1600" b="0" i="1" smtClean="0">
                                    <a:latin typeface="Cambria Math" panose="02040503050406030204" pitchFamily="18" charset="0"/>
                                  </a:rPr>
                                </m:ctrlPr>
                              </m:fPr>
                              <m:num>
                                <m:r>
                                  <a:rPr lang="en-SG" sz="1600" b="0" i="1" smtClean="0">
                                    <a:latin typeface="Cambria Math" panose="02040503050406030204" pitchFamily="18" charset="0"/>
                                  </a:rPr>
                                  <m:t>𝑛</m:t>
                                </m:r>
                                <m:r>
                                  <a:rPr lang="en-SG" sz="1600" b="0" i="1" smtClean="0">
                                    <a:latin typeface="Cambria Math" panose="02040503050406030204" pitchFamily="18" charset="0"/>
                                  </a:rPr>
                                  <m:t>−1</m:t>
                                </m:r>
                              </m:num>
                              <m:den>
                                <m:r>
                                  <a:rPr lang="en-SG" sz="1600" b="0" i="1" smtClean="0">
                                    <a:latin typeface="Cambria Math" panose="02040503050406030204" pitchFamily="18" charset="0"/>
                                  </a:rPr>
                                  <m:t>2</m:t>
                                </m:r>
                              </m:den>
                            </m:f>
                          </m:e>
                        </m:d>
                      </m:e>
                    </m:d>
                  </m:oMath>
                </a14:m>
                <a:endParaRPr lang="en-SG" sz="1600" dirty="0"/>
              </a:p>
              <a:p>
                <a:pPr>
                  <a:lnSpc>
                    <a:spcPct val="110000"/>
                  </a:lnSpc>
                  <a:spcBef>
                    <a:spcPts val="0"/>
                  </a:spcBef>
                </a:pPr>
                <a:r>
                  <a:rPr lang="en-SG" sz="1600" dirty="0"/>
                  <a:t>It’s 2 children have offsets </a:t>
                </a:r>
                <a14:m>
                  <m:oMath xmlns:m="http://schemas.openxmlformats.org/officeDocument/2006/math">
                    <m:r>
                      <a:rPr lang="en-SG" sz="1600" b="0" i="0" smtClean="0">
                        <a:latin typeface="Cambria Math" panose="02040503050406030204" pitchFamily="18" charset="0"/>
                      </a:rPr>
                      <m:t>(</m:t>
                    </m:r>
                    <m:r>
                      <a:rPr lang="en-SG" sz="1600" b="0" i="1" smtClean="0">
                        <a:latin typeface="Cambria Math" panose="02040503050406030204" pitchFamily="18" charset="0"/>
                      </a:rPr>
                      <m:t>2</m:t>
                    </m:r>
                    <m:r>
                      <a:rPr lang="en-SG" sz="1600" b="0" i="1" smtClean="0">
                        <a:latin typeface="Cambria Math" panose="02040503050406030204" pitchFamily="18" charset="0"/>
                      </a:rPr>
                      <m:t>𝑛</m:t>
                    </m:r>
                    <m:r>
                      <a:rPr lang="en-SG" sz="1600" b="0" i="1" smtClean="0">
                        <a:latin typeface="Cambria Math" panose="02040503050406030204" pitchFamily="18" charset="0"/>
                      </a:rPr>
                      <m:t>+1</m:t>
                    </m:r>
                  </m:oMath>
                </a14:m>
                <a:r>
                  <a:rPr lang="en-SG" sz="1600" dirty="0"/>
                  <a:t>) and </a:t>
                </a:r>
                <a14:m>
                  <m:oMath xmlns:m="http://schemas.openxmlformats.org/officeDocument/2006/math">
                    <m:r>
                      <a:rPr lang="en-SG" sz="1600" b="0" i="0" smtClean="0">
                        <a:latin typeface="Cambria Math" panose="02040503050406030204" pitchFamily="18" charset="0"/>
                      </a:rPr>
                      <m:t>(</m:t>
                    </m:r>
                    <m:r>
                      <a:rPr lang="en-SG" sz="1600" b="0" i="1" smtClean="0">
                        <a:latin typeface="Cambria Math" panose="02040503050406030204" pitchFamily="18" charset="0"/>
                      </a:rPr>
                      <m:t>2</m:t>
                    </m:r>
                    <m:r>
                      <a:rPr lang="en-SG" sz="1600" b="0" i="1" smtClean="0">
                        <a:latin typeface="Cambria Math" panose="02040503050406030204" pitchFamily="18" charset="0"/>
                      </a:rPr>
                      <m:t>𝑛</m:t>
                    </m:r>
                    <m:r>
                      <a:rPr lang="en-SG" sz="1600" b="0" i="1" smtClean="0">
                        <a:latin typeface="Cambria Math" panose="02040503050406030204" pitchFamily="18" charset="0"/>
                      </a:rPr>
                      <m:t>+2)</m:t>
                    </m:r>
                  </m:oMath>
                </a14:m>
                <a:endParaRPr lang="en-SG" sz="1600" dirty="0"/>
              </a:p>
              <a:p>
                <a:pPr marL="0" indent="0">
                  <a:lnSpc>
                    <a:spcPct val="110000"/>
                  </a:lnSpc>
                  <a:spcBef>
                    <a:spcPts val="0"/>
                  </a:spcBef>
                  <a:buNone/>
                </a:pPr>
                <a:r>
                  <a:rPr lang="en-SG" sz="1600" dirty="0"/>
                  <a:t>First non-leaf element of </a:t>
                </a:r>
                <a14:m>
                  <m:oMath xmlns:m="http://schemas.openxmlformats.org/officeDocument/2006/math">
                    <m:r>
                      <a:rPr lang="en-SG" sz="1600" b="0" i="1" smtClean="0">
                        <a:latin typeface="Cambria Math" panose="02040503050406030204" pitchFamily="18" charset="0"/>
                      </a:rPr>
                      <m:t>𝑁</m:t>
                    </m:r>
                  </m:oMath>
                </a14:m>
                <a:r>
                  <a:rPr lang="en-SG" sz="1600" dirty="0"/>
                  <a:t> elements as offset </a:t>
                </a:r>
                <a14:m>
                  <m:oMath xmlns:m="http://schemas.openxmlformats.org/officeDocument/2006/math">
                    <m:r>
                      <a:rPr lang="en-SG" sz="1600" b="0" i="1" smtClean="0">
                        <a:latin typeface="Cambria Math" panose="02040503050406030204" pitchFamily="18" charset="0"/>
                      </a:rPr>
                      <m:t>(</m:t>
                    </m:r>
                    <m:d>
                      <m:dPr>
                        <m:begChr m:val="⌊"/>
                        <m:endChr m:val=""/>
                        <m:ctrlPr>
                          <a:rPr lang="en-SG" sz="1600" i="1">
                            <a:latin typeface="Cambria Math" panose="02040503050406030204" pitchFamily="18" charset="0"/>
                          </a:rPr>
                        </m:ctrlPr>
                      </m:dPr>
                      <m:e>
                        <m:d>
                          <m:dPr>
                            <m:begChr m:val=""/>
                            <m:endChr m:val="⌋"/>
                            <m:ctrlPr>
                              <a:rPr lang="en-SG" sz="1600" i="1">
                                <a:latin typeface="Cambria Math" panose="02040503050406030204" pitchFamily="18" charset="0"/>
                              </a:rPr>
                            </m:ctrlPr>
                          </m:dPr>
                          <m:e>
                            <m:f>
                              <m:fPr>
                                <m:ctrlPr>
                                  <a:rPr lang="en-SG" sz="1600" i="1">
                                    <a:latin typeface="Cambria Math" panose="02040503050406030204" pitchFamily="18" charset="0"/>
                                  </a:rPr>
                                </m:ctrlPr>
                              </m:fPr>
                              <m:num>
                                <m:r>
                                  <a:rPr lang="en-SG" sz="1600" i="1">
                                    <a:latin typeface="Cambria Math" panose="02040503050406030204" pitchFamily="18" charset="0"/>
                                  </a:rPr>
                                  <m:t>𝑛</m:t>
                                </m:r>
                              </m:num>
                              <m:den>
                                <m:r>
                                  <a:rPr lang="en-SG" sz="1600" i="1">
                                    <a:latin typeface="Cambria Math" panose="02040503050406030204" pitchFamily="18" charset="0"/>
                                  </a:rPr>
                                  <m:t>2</m:t>
                                </m:r>
                              </m:den>
                            </m:f>
                          </m:e>
                        </m:d>
                      </m:e>
                    </m:d>
                    <m:r>
                      <a:rPr lang="en-SG" sz="1600" b="0" i="1" smtClean="0">
                        <a:latin typeface="Cambria Math" panose="02040503050406030204" pitchFamily="18" charset="0"/>
                      </a:rPr>
                      <m:t>−1</m:t>
                    </m:r>
                  </m:oMath>
                </a14:m>
                <a:r>
                  <a:rPr lang="en-SG" sz="1600" dirty="0"/>
                  <a:t>)</a:t>
                </a:r>
              </a:p>
            </p:txBody>
          </p:sp>
        </mc:Choice>
        <mc:Fallback xmlns="">
          <p:sp>
            <p:nvSpPr>
              <p:cNvPr id="5" name="Content Placeholder 3">
                <a:extLst>
                  <a:ext uri="{FF2B5EF4-FFF2-40B4-BE49-F238E27FC236}">
                    <a16:creationId xmlns:a16="http://schemas.microsoft.com/office/drawing/2014/main" id="{BDBE3430-794C-546D-33FA-CD2403117FF7}"/>
                  </a:ext>
                </a:extLst>
              </p:cNvPr>
              <p:cNvSpPr txBox="1">
                <a:spLocks noRot="1" noChangeAspect="1" noMove="1" noResize="1" noEditPoints="1" noAdjustHandles="1" noChangeArrowheads="1" noChangeShapeType="1" noTextEdit="1"/>
              </p:cNvSpPr>
              <p:nvPr/>
            </p:nvSpPr>
            <p:spPr>
              <a:xfrm>
                <a:off x="274322" y="1946364"/>
                <a:ext cx="4990010" cy="1423852"/>
              </a:xfrm>
              <a:prstGeom prst="rect">
                <a:avLst/>
              </a:prstGeom>
              <a:blipFill>
                <a:blip r:embed="rId3"/>
                <a:stretch>
                  <a:fillRect l="-611" t="-31624" r="-5006" b="-79915"/>
                </a:stretch>
              </a:blipFill>
            </p:spPr>
            <p:txBody>
              <a:bodyPr/>
              <a:lstStyle/>
              <a:p>
                <a:r>
                  <a:rPr lang="en-SG">
                    <a:noFill/>
                  </a:rPr>
                  <a:t> </a:t>
                </a:r>
              </a:p>
            </p:txBody>
          </p:sp>
        </mc:Fallback>
      </mc:AlternateContent>
      <p:pic>
        <p:nvPicPr>
          <p:cNvPr id="3076" name="Picture 4" descr="Heap Sort (With Code in Python, C++, Java and C)">
            <a:extLst>
              <a:ext uri="{FF2B5EF4-FFF2-40B4-BE49-F238E27FC236}">
                <a16:creationId xmlns:a16="http://schemas.microsoft.com/office/drawing/2014/main" id="{F4DCC14A-8945-9D88-7C38-22B0D58140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0526" y="3571058"/>
            <a:ext cx="3344094" cy="1892053"/>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a:extLst>
              <a:ext uri="{FF2B5EF4-FFF2-40B4-BE49-F238E27FC236}">
                <a16:creationId xmlns:a16="http://schemas.microsoft.com/office/drawing/2014/main" id="{EDCA9189-C396-4828-0780-F04FB1E297B6}"/>
              </a:ext>
            </a:extLst>
          </p:cNvPr>
          <p:cNvSpPr txBox="1">
            <a:spLocks/>
          </p:cNvSpPr>
          <p:nvPr/>
        </p:nvSpPr>
        <p:spPr>
          <a:xfrm>
            <a:off x="248194" y="5303519"/>
            <a:ext cx="5120640" cy="12017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None/>
            </a:pPr>
            <a:r>
              <a:rPr lang="en-SG" sz="1600" dirty="0"/>
              <a:t>To form Max-heap/Min-heap, successively move larger/smaller child up to parent if it’s larger then parent, in reverse order – method is called max-</a:t>
            </a:r>
            <a:r>
              <a:rPr lang="en-SG" sz="1600" dirty="0" err="1"/>
              <a:t>heapify</a:t>
            </a:r>
            <a:r>
              <a:rPr lang="en-SG" sz="1600" dirty="0"/>
              <a:t> / min-</a:t>
            </a:r>
            <a:r>
              <a:rPr lang="en-SG" sz="1600" dirty="0" err="1"/>
              <a:t>heapify</a:t>
            </a:r>
            <a:r>
              <a:rPr lang="en-SG" sz="1600" dirty="0"/>
              <a:t>.</a:t>
            </a:r>
          </a:p>
        </p:txBody>
      </p:sp>
      <p:pic>
        <p:nvPicPr>
          <p:cNvPr id="8" name="Picture 7">
            <a:extLst>
              <a:ext uri="{FF2B5EF4-FFF2-40B4-BE49-F238E27FC236}">
                <a16:creationId xmlns:a16="http://schemas.microsoft.com/office/drawing/2014/main" id="{5FA66508-9699-4EB7-A442-4E351350B2C3}"/>
              </a:ext>
            </a:extLst>
          </p:cNvPr>
          <p:cNvPicPr>
            <a:picLocks noChangeAspect="1"/>
          </p:cNvPicPr>
          <p:nvPr/>
        </p:nvPicPr>
        <p:blipFill>
          <a:blip r:embed="rId5"/>
          <a:stretch>
            <a:fillRect/>
          </a:stretch>
        </p:blipFill>
        <p:spPr>
          <a:xfrm>
            <a:off x="5401221" y="705394"/>
            <a:ext cx="6476082" cy="5564777"/>
          </a:xfrm>
          <a:prstGeom prst="rect">
            <a:avLst/>
          </a:prstGeom>
        </p:spPr>
      </p:pic>
      <p:cxnSp>
        <p:nvCxnSpPr>
          <p:cNvPr id="9" name="Connector: Elbow 8">
            <a:extLst>
              <a:ext uri="{FF2B5EF4-FFF2-40B4-BE49-F238E27FC236}">
                <a16:creationId xmlns:a16="http://schemas.microsoft.com/office/drawing/2014/main" id="{B3AE32C6-E694-8087-60B7-76A1DCADDAE6}"/>
              </a:ext>
            </a:extLst>
          </p:cNvPr>
          <p:cNvCxnSpPr>
            <a:cxnSpLocks/>
          </p:cNvCxnSpPr>
          <p:nvPr/>
        </p:nvCxnSpPr>
        <p:spPr>
          <a:xfrm>
            <a:off x="274320" y="3526971"/>
            <a:ext cx="4924697" cy="0"/>
          </a:xfrm>
          <a:prstGeom prst="straightConnector1">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3122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D3FA96CA-A121-B54F-B62C-D0500D8F3B50}"/>
              </a:ext>
            </a:extLst>
          </p:cNvPr>
          <p:cNvPicPr>
            <a:picLocks noChangeAspect="1"/>
          </p:cNvPicPr>
          <p:nvPr/>
        </p:nvPicPr>
        <p:blipFill>
          <a:blip r:embed="rId2"/>
          <a:srcRect r="13722"/>
          <a:stretch>
            <a:fillRect/>
          </a:stretch>
        </p:blipFill>
        <p:spPr>
          <a:xfrm>
            <a:off x="6648010" y="1474949"/>
            <a:ext cx="4589447" cy="3237432"/>
          </a:xfrm>
          <a:prstGeom prst="rect">
            <a:avLst/>
          </a:prstGeom>
        </p:spPr>
      </p:pic>
      <p:pic>
        <p:nvPicPr>
          <p:cNvPr id="6" name="Picture 5">
            <a:extLst>
              <a:ext uri="{FF2B5EF4-FFF2-40B4-BE49-F238E27FC236}">
                <a16:creationId xmlns:a16="http://schemas.microsoft.com/office/drawing/2014/main" id="{EB82E107-999D-3720-126D-EAF04DF40602}"/>
              </a:ext>
            </a:extLst>
          </p:cNvPr>
          <p:cNvPicPr>
            <a:picLocks noChangeAspect="1"/>
          </p:cNvPicPr>
          <p:nvPr/>
        </p:nvPicPr>
        <p:blipFill>
          <a:blip r:embed="rId3"/>
          <a:srcRect r="19530"/>
          <a:stretch>
            <a:fillRect/>
          </a:stretch>
        </p:blipFill>
        <p:spPr>
          <a:xfrm>
            <a:off x="647396" y="1675356"/>
            <a:ext cx="4804826" cy="2842027"/>
          </a:xfrm>
          <a:prstGeom prst="rect">
            <a:avLst/>
          </a:prstGeom>
        </p:spPr>
      </p:pic>
      <p:sp>
        <p:nvSpPr>
          <p:cNvPr id="2" name="Rectangle 1">
            <a:extLst>
              <a:ext uri="{FF2B5EF4-FFF2-40B4-BE49-F238E27FC236}">
                <a16:creationId xmlns:a16="http://schemas.microsoft.com/office/drawing/2014/main" id="{61DB7E0C-83D4-C0FA-398B-8A9B3A97FF61}"/>
              </a:ext>
            </a:extLst>
          </p:cNvPr>
          <p:cNvSpPr/>
          <p:nvPr/>
        </p:nvSpPr>
        <p:spPr>
          <a:xfrm>
            <a:off x="926925" y="270205"/>
            <a:ext cx="10509337" cy="6050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3200" dirty="0">
                <a:solidFill>
                  <a:schemeClr val="tx1"/>
                </a:solidFill>
              </a:rPr>
              <a:t>2.a) Implement </a:t>
            </a:r>
            <a:r>
              <a:rPr lang="en-SG" sz="3200" dirty="0" err="1">
                <a:solidFill>
                  <a:schemeClr val="tx1"/>
                </a:solidFill>
              </a:rPr>
              <a:t>Heapify</a:t>
            </a:r>
            <a:r>
              <a:rPr lang="en-SG" sz="3200" dirty="0">
                <a:solidFill>
                  <a:schemeClr val="tx1"/>
                </a:solidFill>
              </a:rPr>
              <a:t> to build Min-Heap</a:t>
            </a:r>
          </a:p>
        </p:txBody>
      </p:sp>
      <p:sp>
        <p:nvSpPr>
          <p:cNvPr id="4" name="Rectangle 3">
            <a:extLst>
              <a:ext uri="{FF2B5EF4-FFF2-40B4-BE49-F238E27FC236}">
                <a16:creationId xmlns:a16="http://schemas.microsoft.com/office/drawing/2014/main" id="{7FF0EF27-4C71-E970-AABB-130E19BC87F7}"/>
              </a:ext>
            </a:extLst>
          </p:cNvPr>
          <p:cNvSpPr/>
          <p:nvPr/>
        </p:nvSpPr>
        <p:spPr>
          <a:xfrm>
            <a:off x="767488" y="1159194"/>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min_heapify.cpp</a:t>
            </a:r>
          </a:p>
        </p:txBody>
      </p:sp>
      <p:sp>
        <p:nvSpPr>
          <p:cNvPr id="5" name="Rectangle 4">
            <a:extLst>
              <a:ext uri="{FF2B5EF4-FFF2-40B4-BE49-F238E27FC236}">
                <a16:creationId xmlns:a16="http://schemas.microsoft.com/office/drawing/2014/main" id="{FCDACC25-6CFC-6348-13AF-AF2D20570092}"/>
              </a:ext>
            </a:extLst>
          </p:cNvPr>
          <p:cNvSpPr/>
          <p:nvPr/>
        </p:nvSpPr>
        <p:spPr>
          <a:xfrm>
            <a:off x="6728088" y="946789"/>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 </a:t>
            </a:r>
            <a:r>
              <a:rPr lang="en-SG" sz="2400" dirty="0" err="1">
                <a:solidFill>
                  <a:schemeClr val="tx1"/>
                </a:solidFill>
              </a:rPr>
              <a:t>min_heapify.out</a:t>
            </a:r>
            <a:r>
              <a:rPr lang="en-SG" sz="2400" dirty="0">
                <a:solidFill>
                  <a:schemeClr val="tx1"/>
                </a:solidFill>
              </a:rPr>
              <a:t> &lt; test.dat</a:t>
            </a:r>
          </a:p>
        </p:txBody>
      </p:sp>
      <p:sp>
        <p:nvSpPr>
          <p:cNvPr id="7" name="Rectangle 6">
            <a:extLst>
              <a:ext uri="{FF2B5EF4-FFF2-40B4-BE49-F238E27FC236}">
                <a16:creationId xmlns:a16="http://schemas.microsoft.com/office/drawing/2014/main" id="{4C552C0B-78B1-FACD-A0EF-79BEA116BA7A}"/>
              </a:ext>
            </a:extLst>
          </p:cNvPr>
          <p:cNvSpPr/>
          <p:nvPr/>
        </p:nvSpPr>
        <p:spPr>
          <a:xfrm>
            <a:off x="855170" y="4679008"/>
            <a:ext cx="4359057" cy="57619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Add recursive </a:t>
            </a:r>
            <a:r>
              <a:rPr lang="en-SG" sz="2000" dirty="0" err="1">
                <a:solidFill>
                  <a:schemeClr val="tx1"/>
                </a:solidFill>
              </a:rPr>
              <a:t>minHeapify</a:t>
            </a:r>
            <a:r>
              <a:rPr lang="en-SG" sz="2000" dirty="0">
                <a:solidFill>
                  <a:schemeClr val="tx1"/>
                </a:solidFill>
              </a:rPr>
              <a:t>( ) codes</a:t>
            </a:r>
          </a:p>
        </p:txBody>
      </p:sp>
      <p:sp>
        <p:nvSpPr>
          <p:cNvPr id="8" name="Rectangle 7">
            <a:extLst>
              <a:ext uri="{FF2B5EF4-FFF2-40B4-BE49-F238E27FC236}">
                <a16:creationId xmlns:a16="http://schemas.microsoft.com/office/drawing/2014/main" id="{6A142B49-3A0E-A3F3-2C94-C57D0EB16045}"/>
              </a:ext>
            </a:extLst>
          </p:cNvPr>
          <p:cNvSpPr/>
          <p:nvPr/>
        </p:nvSpPr>
        <p:spPr>
          <a:xfrm>
            <a:off x="855170" y="5405518"/>
            <a:ext cx="4359057" cy="57619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Do not remove these.</a:t>
            </a:r>
          </a:p>
        </p:txBody>
      </p:sp>
      <p:sp>
        <p:nvSpPr>
          <p:cNvPr id="9" name="Rectangle 8">
            <a:extLst>
              <a:ext uri="{FF2B5EF4-FFF2-40B4-BE49-F238E27FC236}">
                <a16:creationId xmlns:a16="http://schemas.microsoft.com/office/drawing/2014/main" id="{F35CEFCD-58E9-E0A3-74A9-E2B370D77308}"/>
              </a:ext>
            </a:extLst>
          </p:cNvPr>
          <p:cNvSpPr/>
          <p:nvPr/>
        </p:nvSpPr>
        <p:spPr>
          <a:xfrm>
            <a:off x="767488" y="3413879"/>
            <a:ext cx="4572000" cy="926926"/>
          </a:xfrm>
          <a:prstGeom prst="rect">
            <a:avLst/>
          </a:prstGeom>
          <a:no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 name="Connector: Elbow 9">
            <a:extLst>
              <a:ext uri="{FF2B5EF4-FFF2-40B4-BE49-F238E27FC236}">
                <a16:creationId xmlns:a16="http://schemas.microsoft.com/office/drawing/2014/main" id="{A1EDDCDD-CAD0-E0C6-0D03-8669930D2050}"/>
              </a:ext>
            </a:extLst>
          </p:cNvPr>
          <p:cNvCxnSpPr>
            <a:cxnSpLocks/>
            <a:stCxn id="9" idx="1"/>
            <a:endCxn id="7" idx="1"/>
          </p:cNvCxnSpPr>
          <p:nvPr/>
        </p:nvCxnSpPr>
        <p:spPr>
          <a:xfrm rot="10800000" flipH="1" flipV="1">
            <a:off x="767488" y="3877341"/>
            <a:ext cx="87682" cy="1089765"/>
          </a:xfrm>
          <a:prstGeom prst="bentConnector3">
            <a:avLst>
              <a:gd name="adj1" fmla="val -260715"/>
            </a:avLst>
          </a:prstGeom>
          <a:ln>
            <a:solidFill>
              <a:schemeClr val="accent5">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281BB8FA-E503-B5E8-2E4C-8E4C1CA92E72}"/>
              </a:ext>
            </a:extLst>
          </p:cNvPr>
          <p:cNvSpPr/>
          <p:nvPr/>
        </p:nvSpPr>
        <p:spPr>
          <a:xfrm>
            <a:off x="767488" y="2036014"/>
            <a:ext cx="4572000" cy="7265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12" name="Connector: Elbow 11">
            <a:extLst>
              <a:ext uri="{FF2B5EF4-FFF2-40B4-BE49-F238E27FC236}">
                <a16:creationId xmlns:a16="http://schemas.microsoft.com/office/drawing/2014/main" id="{77254A4F-FDDE-C9BC-A8F7-2CCDC9A74D44}"/>
              </a:ext>
            </a:extLst>
          </p:cNvPr>
          <p:cNvCxnSpPr>
            <a:cxnSpLocks/>
            <a:stCxn id="11" idx="1"/>
            <a:endCxn id="8" idx="1"/>
          </p:cNvCxnSpPr>
          <p:nvPr/>
        </p:nvCxnSpPr>
        <p:spPr>
          <a:xfrm rot="10800000" flipH="1" flipV="1">
            <a:off x="767488" y="2399269"/>
            <a:ext cx="87682" cy="3294347"/>
          </a:xfrm>
          <a:prstGeom prst="bentConnector3">
            <a:avLst>
              <a:gd name="adj1" fmla="val -50357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3" name="Arrow: Right 12">
            <a:extLst>
              <a:ext uri="{FF2B5EF4-FFF2-40B4-BE49-F238E27FC236}">
                <a16:creationId xmlns:a16="http://schemas.microsoft.com/office/drawing/2014/main" id="{B9AC6D46-33B2-B4A0-8304-0A330A048337}"/>
              </a:ext>
            </a:extLst>
          </p:cNvPr>
          <p:cNvSpPr/>
          <p:nvPr/>
        </p:nvSpPr>
        <p:spPr>
          <a:xfrm>
            <a:off x="5590009" y="2887786"/>
            <a:ext cx="450938" cy="413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13">
            <a:extLst>
              <a:ext uri="{FF2B5EF4-FFF2-40B4-BE49-F238E27FC236}">
                <a16:creationId xmlns:a16="http://schemas.microsoft.com/office/drawing/2014/main" id="{7AE2B1F8-F98A-FFC1-FC5D-90E93DE78FED}"/>
              </a:ext>
            </a:extLst>
          </p:cNvPr>
          <p:cNvSpPr/>
          <p:nvPr/>
        </p:nvSpPr>
        <p:spPr>
          <a:xfrm>
            <a:off x="5917474" y="4811069"/>
            <a:ext cx="5878286" cy="97577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Run and generate output showing inputs to each recursive calls. Final result shows a min-heap with smallest element at the root of the tree.</a:t>
            </a:r>
          </a:p>
        </p:txBody>
      </p:sp>
      <p:sp>
        <p:nvSpPr>
          <p:cNvPr id="15" name="Rectangle 14">
            <a:extLst>
              <a:ext uri="{FF2B5EF4-FFF2-40B4-BE49-F238E27FC236}">
                <a16:creationId xmlns:a16="http://schemas.microsoft.com/office/drawing/2014/main" id="{B04C1A0B-076B-28F9-373D-E3EE0FB11FFB}"/>
              </a:ext>
            </a:extLst>
          </p:cNvPr>
          <p:cNvSpPr/>
          <p:nvPr/>
        </p:nvSpPr>
        <p:spPr>
          <a:xfrm>
            <a:off x="6615354" y="1823611"/>
            <a:ext cx="4672208" cy="293109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6" name="Connector: Elbow 15">
            <a:extLst>
              <a:ext uri="{FF2B5EF4-FFF2-40B4-BE49-F238E27FC236}">
                <a16:creationId xmlns:a16="http://schemas.microsoft.com/office/drawing/2014/main" id="{969E5953-3716-8EFE-04BD-D6AEBE317BCD}"/>
              </a:ext>
            </a:extLst>
          </p:cNvPr>
          <p:cNvCxnSpPr>
            <a:cxnSpLocks/>
            <a:stCxn id="15" idx="3"/>
            <a:endCxn id="14" idx="3"/>
          </p:cNvCxnSpPr>
          <p:nvPr/>
        </p:nvCxnSpPr>
        <p:spPr>
          <a:xfrm>
            <a:off x="11287562" y="3289156"/>
            <a:ext cx="508198" cy="2009802"/>
          </a:xfrm>
          <a:prstGeom prst="bentConnector3">
            <a:avLst>
              <a:gd name="adj1" fmla="val 144982"/>
            </a:avLst>
          </a:prstGeom>
          <a:ln>
            <a:solidFill>
              <a:srgbClr val="FFC000"/>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825650B0-BBCD-D3FC-E4C4-B215ECFF532D}"/>
              </a:ext>
            </a:extLst>
          </p:cNvPr>
          <p:cNvSpPr/>
          <p:nvPr/>
        </p:nvSpPr>
        <p:spPr>
          <a:xfrm>
            <a:off x="5402119" y="2524530"/>
            <a:ext cx="914400" cy="3632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dirty="0">
                <a:solidFill>
                  <a:schemeClr val="tx1"/>
                </a:solidFill>
              </a:rPr>
              <a:t>&gt; make</a:t>
            </a:r>
          </a:p>
        </p:txBody>
      </p:sp>
      <p:sp>
        <p:nvSpPr>
          <p:cNvPr id="34" name="Rectangle 33">
            <a:extLst>
              <a:ext uri="{FF2B5EF4-FFF2-40B4-BE49-F238E27FC236}">
                <a16:creationId xmlns:a16="http://schemas.microsoft.com/office/drawing/2014/main" id="{3E9CF3C8-3531-F210-7638-D225FAD356E5}"/>
              </a:ext>
            </a:extLst>
          </p:cNvPr>
          <p:cNvSpPr/>
          <p:nvPr/>
        </p:nvSpPr>
        <p:spPr>
          <a:xfrm>
            <a:off x="6257108" y="5982788"/>
            <a:ext cx="5290457" cy="757646"/>
          </a:xfrm>
          <a:prstGeom prst="rect">
            <a:avLst/>
          </a:prstGeom>
          <a:solidFill>
            <a:srgbClr val="FFFF66">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563" indent="-182563">
              <a:buFontTx/>
              <a:buChar char="-"/>
            </a:pPr>
            <a:r>
              <a:rPr lang="en-SG" sz="2400" dirty="0">
                <a:solidFill>
                  <a:schemeClr val="tx1"/>
                </a:solidFill>
              </a:rPr>
              <a:t>Upload modified min_heapify.cpp to </a:t>
            </a:r>
            <a:r>
              <a:rPr lang="en-SG" sz="2400" dirty="0" err="1">
                <a:solidFill>
                  <a:schemeClr val="tx1"/>
                </a:solidFill>
              </a:rPr>
              <a:t>gradescope</a:t>
            </a:r>
            <a:r>
              <a:rPr lang="en-SG" sz="2400" dirty="0">
                <a:solidFill>
                  <a:schemeClr val="tx1"/>
                </a:solidFill>
              </a:rPr>
              <a:t>.</a:t>
            </a:r>
          </a:p>
        </p:txBody>
      </p:sp>
    </p:spTree>
    <p:extLst>
      <p:ext uri="{BB962C8B-B14F-4D97-AF65-F5344CB8AC3E}">
        <p14:creationId xmlns:p14="http://schemas.microsoft.com/office/powerpoint/2010/main" val="433197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0A84C49A-665F-DEB4-F9F0-73F5F98F5186}"/>
              </a:ext>
            </a:extLst>
          </p:cNvPr>
          <p:cNvPicPr>
            <a:picLocks noChangeAspect="1"/>
          </p:cNvPicPr>
          <p:nvPr/>
        </p:nvPicPr>
        <p:blipFill>
          <a:blip r:embed="rId2"/>
          <a:stretch>
            <a:fillRect/>
          </a:stretch>
        </p:blipFill>
        <p:spPr>
          <a:xfrm>
            <a:off x="6718182" y="1204826"/>
            <a:ext cx="3901921" cy="3938473"/>
          </a:xfrm>
          <a:prstGeom prst="rect">
            <a:avLst/>
          </a:prstGeom>
        </p:spPr>
      </p:pic>
      <p:pic>
        <p:nvPicPr>
          <p:cNvPr id="17" name="Picture 16">
            <a:extLst>
              <a:ext uri="{FF2B5EF4-FFF2-40B4-BE49-F238E27FC236}">
                <a16:creationId xmlns:a16="http://schemas.microsoft.com/office/drawing/2014/main" id="{5B7051FD-B2CD-369A-025F-26F6275EFB95}"/>
              </a:ext>
            </a:extLst>
          </p:cNvPr>
          <p:cNvPicPr>
            <a:picLocks noChangeAspect="1"/>
          </p:cNvPicPr>
          <p:nvPr/>
        </p:nvPicPr>
        <p:blipFill>
          <a:blip r:embed="rId3"/>
          <a:stretch>
            <a:fillRect/>
          </a:stretch>
        </p:blipFill>
        <p:spPr>
          <a:xfrm>
            <a:off x="947629" y="1385779"/>
            <a:ext cx="4637711" cy="3697820"/>
          </a:xfrm>
          <a:prstGeom prst="rect">
            <a:avLst/>
          </a:prstGeom>
        </p:spPr>
      </p:pic>
      <p:sp>
        <p:nvSpPr>
          <p:cNvPr id="2" name="Rectangle 1">
            <a:extLst>
              <a:ext uri="{FF2B5EF4-FFF2-40B4-BE49-F238E27FC236}">
                <a16:creationId xmlns:a16="http://schemas.microsoft.com/office/drawing/2014/main" id="{61DB7E0C-83D4-C0FA-398B-8A9B3A97FF61}"/>
              </a:ext>
            </a:extLst>
          </p:cNvPr>
          <p:cNvSpPr/>
          <p:nvPr/>
        </p:nvSpPr>
        <p:spPr>
          <a:xfrm>
            <a:off x="538619" y="244079"/>
            <a:ext cx="10985326" cy="5788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3200" dirty="0">
                <a:solidFill>
                  <a:schemeClr val="tx1"/>
                </a:solidFill>
              </a:rPr>
              <a:t>2.b) Implement Heap sort with </a:t>
            </a:r>
            <a:r>
              <a:rPr lang="en-SG" sz="3200" dirty="0" err="1">
                <a:solidFill>
                  <a:schemeClr val="tx1"/>
                </a:solidFill>
              </a:rPr>
              <a:t>Heapify</a:t>
            </a:r>
            <a:endParaRPr lang="en-SG" sz="3200" dirty="0">
              <a:solidFill>
                <a:schemeClr val="tx1"/>
              </a:solidFill>
            </a:endParaRPr>
          </a:p>
        </p:txBody>
      </p:sp>
      <p:sp>
        <p:nvSpPr>
          <p:cNvPr id="4" name="Rectangle 3">
            <a:extLst>
              <a:ext uri="{FF2B5EF4-FFF2-40B4-BE49-F238E27FC236}">
                <a16:creationId xmlns:a16="http://schemas.microsoft.com/office/drawing/2014/main" id="{7FF0EF27-4C71-E970-AABB-130E19BC87F7}"/>
              </a:ext>
            </a:extLst>
          </p:cNvPr>
          <p:cNvSpPr/>
          <p:nvPr/>
        </p:nvSpPr>
        <p:spPr>
          <a:xfrm>
            <a:off x="1002619" y="937484"/>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heap_sort.cpp</a:t>
            </a:r>
          </a:p>
        </p:txBody>
      </p:sp>
      <p:sp>
        <p:nvSpPr>
          <p:cNvPr id="5" name="Rectangle 4">
            <a:extLst>
              <a:ext uri="{FF2B5EF4-FFF2-40B4-BE49-F238E27FC236}">
                <a16:creationId xmlns:a16="http://schemas.microsoft.com/office/drawing/2014/main" id="{FCDACC25-6CFC-6348-13AF-AF2D20570092}"/>
              </a:ext>
            </a:extLst>
          </p:cNvPr>
          <p:cNvSpPr/>
          <p:nvPr/>
        </p:nvSpPr>
        <p:spPr>
          <a:xfrm>
            <a:off x="6701962" y="755676"/>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 </a:t>
            </a:r>
            <a:r>
              <a:rPr lang="en-SG" sz="2400" dirty="0" err="1">
                <a:solidFill>
                  <a:schemeClr val="tx1"/>
                </a:solidFill>
              </a:rPr>
              <a:t>heap_sort.out</a:t>
            </a:r>
            <a:r>
              <a:rPr lang="en-SG" sz="2400" dirty="0">
                <a:solidFill>
                  <a:schemeClr val="tx1"/>
                </a:solidFill>
              </a:rPr>
              <a:t> &lt; test.dat</a:t>
            </a:r>
          </a:p>
        </p:txBody>
      </p:sp>
      <p:sp>
        <p:nvSpPr>
          <p:cNvPr id="7" name="Rectangle 6">
            <a:extLst>
              <a:ext uri="{FF2B5EF4-FFF2-40B4-BE49-F238E27FC236}">
                <a16:creationId xmlns:a16="http://schemas.microsoft.com/office/drawing/2014/main" id="{4C552C0B-78B1-FACD-A0EF-79BEA116BA7A}"/>
              </a:ext>
            </a:extLst>
          </p:cNvPr>
          <p:cNvSpPr/>
          <p:nvPr/>
        </p:nvSpPr>
        <p:spPr>
          <a:xfrm>
            <a:off x="1090301" y="5177545"/>
            <a:ext cx="4359057" cy="53861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Call </a:t>
            </a:r>
            <a:r>
              <a:rPr lang="en-SG" sz="2000" dirty="0" err="1">
                <a:solidFill>
                  <a:schemeClr val="tx1"/>
                </a:solidFill>
              </a:rPr>
              <a:t>minHeapify</a:t>
            </a:r>
            <a:r>
              <a:rPr lang="en-SG" sz="2000" dirty="0">
                <a:solidFill>
                  <a:schemeClr val="tx1"/>
                </a:solidFill>
              </a:rPr>
              <a:t> iteratively on non-leaf nodes to do reverse sort.</a:t>
            </a:r>
          </a:p>
        </p:txBody>
      </p:sp>
      <p:sp>
        <p:nvSpPr>
          <p:cNvPr id="8" name="Rectangle 7">
            <a:extLst>
              <a:ext uri="{FF2B5EF4-FFF2-40B4-BE49-F238E27FC236}">
                <a16:creationId xmlns:a16="http://schemas.microsoft.com/office/drawing/2014/main" id="{6A142B49-3A0E-A3F3-2C94-C57D0EB16045}"/>
              </a:ext>
            </a:extLst>
          </p:cNvPr>
          <p:cNvSpPr/>
          <p:nvPr/>
        </p:nvSpPr>
        <p:spPr>
          <a:xfrm>
            <a:off x="1090301" y="6073154"/>
            <a:ext cx="4359057" cy="288099"/>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Do not remove these.</a:t>
            </a:r>
          </a:p>
        </p:txBody>
      </p:sp>
      <p:sp>
        <p:nvSpPr>
          <p:cNvPr id="9" name="Rectangle 8">
            <a:extLst>
              <a:ext uri="{FF2B5EF4-FFF2-40B4-BE49-F238E27FC236}">
                <a16:creationId xmlns:a16="http://schemas.microsoft.com/office/drawing/2014/main" id="{F35CEFCD-58E9-E0A3-74A9-E2B370D77308}"/>
              </a:ext>
            </a:extLst>
          </p:cNvPr>
          <p:cNvSpPr/>
          <p:nvPr/>
        </p:nvSpPr>
        <p:spPr>
          <a:xfrm>
            <a:off x="1002619" y="2703654"/>
            <a:ext cx="4534422" cy="726509"/>
          </a:xfrm>
          <a:prstGeom prst="rect">
            <a:avLst/>
          </a:prstGeom>
          <a:no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 name="Connector: Elbow 9">
            <a:extLst>
              <a:ext uri="{FF2B5EF4-FFF2-40B4-BE49-F238E27FC236}">
                <a16:creationId xmlns:a16="http://schemas.microsoft.com/office/drawing/2014/main" id="{A1EDDCDD-CAD0-E0C6-0D03-8669930D2050}"/>
              </a:ext>
            </a:extLst>
          </p:cNvPr>
          <p:cNvCxnSpPr>
            <a:cxnSpLocks/>
            <a:stCxn id="29" idx="1"/>
            <a:endCxn id="7" idx="1"/>
          </p:cNvCxnSpPr>
          <p:nvPr/>
        </p:nvCxnSpPr>
        <p:spPr>
          <a:xfrm rot="10800000" flipH="1" flipV="1">
            <a:off x="1002619" y="4820552"/>
            <a:ext cx="87682" cy="626302"/>
          </a:xfrm>
          <a:prstGeom prst="bentConnector3">
            <a:avLst>
              <a:gd name="adj1" fmla="val -260715"/>
            </a:avLst>
          </a:prstGeom>
          <a:ln>
            <a:solidFill>
              <a:schemeClr val="accent5">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281BB8FA-E503-B5E8-2E4C-8E4C1CA92E72}"/>
              </a:ext>
            </a:extLst>
          </p:cNvPr>
          <p:cNvSpPr/>
          <p:nvPr/>
        </p:nvSpPr>
        <p:spPr>
          <a:xfrm>
            <a:off x="1002619" y="1676518"/>
            <a:ext cx="4534422" cy="5260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12" name="Connector: Elbow 11">
            <a:extLst>
              <a:ext uri="{FF2B5EF4-FFF2-40B4-BE49-F238E27FC236}">
                <a16:creationId xmlns:a16="http://schemas.microsoft.com/office/drawing/2014/main" id="{77254A4F-FDDE-C9BC-A8F7-2CCDC9A74D44}"/>
              </a:ext>
            </a:extLst>
          </p:cNvPr>
          <p:cNvCxnSpPr>
            <a:cxnSpLocks/>
            <a:stCxn id="11" idx="1"/>
            <a:endCxn id="8" idx="1"/>
          </p:cNvCxnSpPr>
          <p:nvPr/>
        </p:nvCxnSpPr>
        <p:spPr>
          <a:xfrm rot="10800000" flipH="1" flipV="1">
            <a:off x="1002619" y="1939566"/>
            <a:ext cx="87682" cy="4277638"/>
          </a:xfrm>
          <a:prstGeom prst="bentConnector3">
            <a:avLst>
              <a:gd name="adj1" fmla="val -689287"/>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3" name="Arrow: Right 12">
            <a:extLst>
              <a:ext uri="{FF2B5EF4-FFF2-40B4-BE49-F238E27FC236}">
                <a16:creationId xmlns:a16="http://schemas.microsoft.com/office/drawing/2014/main" id="{B9AC6D46-33B2-B4A0-8304-0A330A048337}"/>
              </a:ext>
            </a:extLst>
          </p:cNvPr>
          <p:cNvSpPr/>
          <p:nvPr/>
        </p:nvSpPr>
        <p:spPr>
          <a:xfrm>
            <a:off x="5912822" y="2991752"/>
            <a:ext cx="450938" cy="413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13">
            <a:extLst>
              <a:ext uri="{FF2B5EF4-FFF2-40B4-BE49-F238E27FC236}">
                <a16:creationId xmlns:a16="http://schemas.microsoft.com/office/drawing/2014/main" id="{7AE2B1F8-F98A-FFC1-FC5D-90E93DE78FED}"/>
              </a:ext>
            </a:extLst>
          </p:cNvPr>
          <p:cNvSpPr/>
          <p:nvPr/>
        </p:nvSpPr>
        <p:spPr>
          <a:xfrm>
            <a:off x="6276078" y="5244468"/>
            <a:ext cx="5248404" cy="651354"/>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Run to perform heap-sort (1) </a:t>
            </a:r>
            <a:r>
              <a:rPr lang="en-SG" sz="2000" dirty="0" err="1">
                <a:solidFill>
                  <a:schemeClr val="tx1"/>
                </a:solidFill>
              </a:rPr>
              <a:t>heapify</a:t>
            </a:r>
            <a:r>
              <a:rPr lang="en-SG" sz="2000" dirty="0">
                <a:solidFill>
                  <a:schemeClr val="tx1"/>
                </a:solidFill>
              </a:rPr>
              <a:t> (2) iteratively place root to heap end then </a:t>
            </a:r>
            <a:r>
              <a:rPr lang="en-SG" sz="2000" dirty="0" err="1">
                <a:solidFill>
                  <a:schemeClr val="tx1"/>
                </a:solidFill>
              </a:rPr>
              <a:t>heapify</a:t>
            </a:r>
            <a:r>
              <a:rPr lang="en-SG" sz="2000" dirty="0">
                <a:solidFill>
                  <a:schemeClr val="tx1"/>
                </a:solidFill>
              </a:rPr>
              <a:t>.</a:t>
            </a:r>
          </a:p>
        </p:txBody>
      </p:sp>
      <p:sp>
        <p:nvSpPr>
          <p:cNvPr id="15" name="Rectangle 14">
            <a:extLst>
              <a:ext uri="{FF2B5EF4-FFF2-40B4-BE49-F238E27FC236}">
                <a16:creationId xmlns:a16="http://schemas.microsoft.com/office/drawing/2014/main" id="{B04C1A0B-076B-28F9-373D-E3EE0FB11FFB}"/>
              </a:ext>
            </a:extLst>
          </p:cNvPr>
          <p:cNvSpPr/>
          <p:nvPr/>
        </p:nvSpPr>
        <p:spPr>
          <a:xfrm>
            <a:off x="6663847" y="2007205"/>
            <a:ext cx="4008507" cy="3152624"/>
          </a:xfrm>
          <a:prstGeom prst="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6" name="Connector: Elbow 15">
            <a:extLst>
              <a:ext uri="{FF2B5EF4-FFF2-40B4-BE49-F238E27FC236}">
                <a16:creationId xmlns:a16="http://schemas.microsoft.com/office/drawing/2014/main" id="{969E5953-3716-8EFE-04BD-D6AEBE317BCD}"/>
              </a:ext>
            </a:extLst>
          </p:cNvPr>
          <p:cNvCxnSpPr>
            <a:cxnSpLocks/>
            <a:stCxn id="15" idx="3"/>
            <a:endCxn id="14" idx="3"/>
          </p:cNvCxnSpPr>
          <p:nvPr/>
        </p:nvCxnSpPr>
        <p:spPr>
          <a:xfrm>
            <a:off x="10672354" y="3583517"/>
            <a:ext cx="852128" cy="1986628"/>
          </a:xfrm>
          <a:prstGeom prst="bentConnector3">
            <a:avLst>
              <a:gd name="adj1" fmla="val 126827"/>
            </a:avLst>
          </a:prstGeom>
          <a:ln>
            <a:solidFill>
              <a:schemeClr val="accent3">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825650B0-BBCD-D3FC-E4C4-B215ECFF532D}"/>
              </a:ext>
            </a:extLst>
          </p:cNvPr>
          <p:cNvSpPr/>
          <p:nvPr/>
        </p:nvSpPr>
        <p:spPr>
          <a:xfrm>
            <a:off x="5637250" y="2615970"/>
            <a:ext cx="914400" cy="3632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dirty="0">
                <a:solidFill>
                  <a:schemeClr val="tx1"/>
                </a:solidFill>
              </a:rPr>
              <a:t>&gt; make</a:t>
            </a:r>
          </a:p>
        </p:txBody>
      </p:sp>
      <p:sp>
        <p:nvSpPr>
          <p:cNvPr id="29" name="Rectangle 28">
            <a:extLst>
              <a:ext uri="{FF2B5EF4-FFF2-40B4-BE49-F238E27FC236}">
                <a16:creationId xmlns:a16="http://schemas.microsoft.com/office/drawing/2014/main" id="{1E51480B-955B-171A-BFA2-886E1285A743}"/>
              </a:ext>
            </a:extLst>
          </p:cNvPr>
          <p:cNvSpPr/>
          <p:nvPr/>
        </p:nvSpPr>
        <p:spPr>
          <a:xfrm>
            <a:off x="1002619" y="4745396"/>
            <a:ext cx="4534422" cy="150312"/>
          </a:xfrm>
          <a:prstGeom prst="rect">
            <a:avLst/>
          </a:prstGeom>
          <a:no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5" name="Rectangle 34">
            <a:extLst>
              <a:ext uri="{FF2B5EF4-FFF2-40B4-BE49-F238E27FC236}">
                <a16:creationId xmlns:a16="http://schemas.microsoft.com/office/drawing/2014/main" id="{523CB2B0-D938-1999-6015-B5B9172B5500}"/>
              </a:ext>
            </a:extLst>
          </p:cNvPr>
          <p:cNvSpPr/>
          <p:nvPr/>
        </p:nvSpPr>
        <p:spPr>
          <a:xfrm>
            <a:off x="1090301" y="5760004"/>
            <a:ext cx="4359057" cy="250520"/>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Copy codes from last exercise.</a:t>
            </a:r>
          </a:p>
        </p:txBody>
      </p:sp>
      <p:cxnSp>
        <p:nvCxnSpPr>
          <p:cNvPr id="39" name="Connector: Elbow 38">
            <a:extLst>
              <a:ext uri="{FF2B5EF4-FFF2-40B4-BE49-F238E27FC236}">
                <a16:creationId xmlns:a16="http://schemas.microsoft.com/office/drawing/2014/main" id="{95FFEACD-2DB2-F91B-9738-897EEF63368C}"/>
              </a:ext>
            </a:extLst>
          </p:cNvPr>
          <p:cNvCxnSpPr>
            <a:cxnSpLocks/>
            <a:stCxn id="9" idx="1"/>
            <a:endCxn id="35" idx="1"/>
          </p:cNvCxnSpPr>
          <p:nvPr/>
        </p:nvCxnSpPr>
        <p:spPr>
          <a:xfrm rot="10800000" flipH="1" flipV="1">
            <a:off x="1002619" y="3066908"/>
            <a:ext cx="87682" cy="2818355"/>
          </a:xfrm>
          <a:prstGeom prst="bentConnector3">
            <a:avLst>
              <a:gd name="adj1" fmla="val -460716"/>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0D0F4555-F4D7-27C6-C54E-3AC303389746}"/>
              </a:ext>
            </a:extLst>
          </p:cNvPr>
          <p:cNvSpPr/>
          <p:nvPr/>
        </p:nvSpPr>
        <p:spPr>
          <a:xfrm>
            <a:off x="6257108" y="5982788"/>
            <a:ext cx="5290457" cy="757646"/>
          </a:xfrm>
          <a:prstGeom prst="rect">
            <a:avLst/>
          </a:prstGeom>
          <a:solidFill>
            <a:srgbClr val="FFFF66">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563" indent="-182563">
              <a:buFontTx/>
              <a:buChar char="-"/>
            </a:pPr>
            <a:r>
              <a:rPr lang="en-SG" sz="2400" dirty="0">
                <a:solidFill>
                  <a:schemeClr val="tx1"/>
                </a:solidFill>
              </a:rPr>
              <a:t>Upload modified heap_sort.cpp to </a:t>
            </a:r>
            <a:r>
              <a:rPr lang="en-SG" sz="2400" dirty="0" err="1">
                <a:solidFill>
                  <a:schemeClr val="tx1"/>
                </a:solidFill>
              </a:rPr>
              <a:t>gradescope</a:t>
            </a:r>
            <a:r>
              <a:rPr lang="en-SG" sz="2400" dirty="0">
                <a:solidFill>
                  <a:schemeClr val="tx1"/>
                </a:solidFill>
              </a:rPr>
              <a:t>.</a:t>
            </a:r>
          </a:p>
        </p:txBody>
      </p:sp>
    </p:spTree>
    <p:extLst>
      <p:ext uri="{BB962C8B-B14F-4D97-AF65-F5344CB8AC3E}">
        <p14:creationId xmlns:p14="http://schemas.microsoft.com/office/powerpoint/2010/main" val="3732327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78E38-41D6-A1F3-6A56-505654748586}"/>
              </a:ext>
            </a:extLst>
          </p:cNvPr>
          <p:cNvSpPr>
            <a:spLocks noGrp="1"/>
          </p:cNvSpPr>
          <p:nvPr>
            <p:ph type="title"/>
          </p:nvPr>
        </p:nvSpPr>
        <p:spPr>
          <a:xfrm>
            <a:off x="838200" y="2574925"/>
            <a:ext cx="10515600" cy="1325563"/>
          </a:xfrm>
        </p:spPr>
        <p:txBody>
          <a:bodyPr/>
          <a:lstStyle/>
          <a:p>
            <a:pPr algn="ctr"/>
            <a:r>
              <a:rPr lang="en-SG" dirty="0"/>
              <a:t>(3) Bubble Sort</a:t>
            </a:r>
          </a:p>
        </p:txBody>
      </p:sp>
    </p:spTree>
    <p:extLst>
      <p:ext uri="{BB962C8B-B14F-4D97-AF65-F5344CB8AC3E}">
        <p14:creationId xmlns:p14="http://schemas.microsoft.com/office/powerpoint/2010/main" val="3538497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48D9-98AC-0E6F-9748-3407DFC40F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11EDB5C-CA48-7505-E19F-86B5A6F7126C}"/>
              </a:ext>
            </a:extLst>
          </p:cNvPr>
          <p:cNvSpPr>
            <a:spLocks noGrp="1"/>
          </p:cNvSpPr>
          <p:nvPr>
            <p:ph type="title"/>
          </p:nvPr>
        </p:nvSpPr>
        <p:spPr>
          <a:xfrm>
            <a:off x="838200" y="365126"/>
            <a:ext cx="10515600" cy="901972"/>
          </a:xfrm>
        </p:spPr>
        <p:txBody>
          <a:bodyPr/>
          <a:lstStyle/>
          <a:p>
            <a:r>
              <a:rPr lang="en-SG" dirty="0"/>
              <a:t>What is Bubble Sort?</a:t>
            </a:r>
          </a:p>
        </p:txBody>
      </p:sp>
      <p:sp>
        <p:nvSpPr>
          <p:cNvPr id="4" name="Content Placeholder 3">
            <a:extLst>
              <a:ext uri="{FF2B5EF4-FFF2-40B4-BE49-F238E27FC236}">
                <a16:creationId xmlns:a16="http://schemas.microsoft.com/office/drawing/2014/main" id="{F20C858A-1C1A-37C7-DA41-2A26E8CFE2DE}"/>
              </a:ext>
            </a:extLst>
          </p:cNvPr>
          <p:cNvSpPr>
            <a:spLocks noGrp="1"/>
          </p:cNvSpPr>
          <p:nvPr>
            <p:ph idx="1"/>
          </p:nvPr>
        </p:nvSpPr>
        <p:spPr>
          <a:xfrm>
            <a:off x="916578" y="1357372"/>
            <a:ext cx="10515600" cy="5056491"/>
          </a:xfrm>
        </p:spPr>
        <p:txBody>
          <a:bodyPr>
            <a:normAutofit fontScale="85000" lnSpcReduction="10000"/>
          </a:bodyPr>
          <a:lstStyle/>
          <a:p>
            <a:pPr>
              <a:lnSpc>
                <a:spcPct val="110000"/>
              </a:lnSpc>
              <a:spcBef>
                <a:spcPts val="0"/>
              </a:spcBef>
            </a:pPr>
            <a:r>
              <a:rPr lang="en-SG" dirty="0"/>
              <a:t>Bubble Sort is a simple sorting algorithm that repeatedly compares adjacent elements in an array and swaps them if they are in the wrong order. This process "bubbles" the largest (or smallest) elements to their correct position in each iteration.</a:t>
            </a:r>
          </a:p>
          <a:p>
            <a:pPr>
              <a:lnSpc>
                <a:spcPct val="110000"/>
              </a:lnSpc>
              <a:spcBef>
                <a:spcPts val="0"/>
              </a:spcBef>
            </a:pPr>
            <a:r>
              <a:rPr lang="en-SG" dirty="0"/>
              <a:t>How It Works</a:t>
            </a:r>
          </a:p>
          <a:p>
            <a:pPr lvl="1">
              <a:lnSpc>
                <a:spcPct val="110000"/>
              </a:lnSpc>
              <a:spcBef>
                <a:spcPts val="0"/>
              </a:spcBef>
            </a:pPr>
            <a:r>
              <a:rPr lang="en-SG" dirty="0"/>
              <a:t>Compare Adjacent Elements:</a:t>
            </a:r>
          </a:p>
          <a:p>
            <a:pPr lvl="2">
              <a:lnSpc>
                <a:spcPct val="110000"/>
              </a:lnSpc>
              <a:spcBef>
                <a:spcPts val="0"/>
              </a:spcBef>
            </a:pPr>
            <a:r>
              <a:rPr lang="en-SG" dirty="0"/>
              <a:t>Starting from the first element, compare each pair of adjacent elements.</a:t>
            </a:r>
          </a:p>
          <a:p>
            <a:pPr lvl="2">
              <a:lnSpc>
                <a:spcPct val="110000"/>
              </a:lnSpc>
              <a:spcBef>
                <a:spcPts val="0"/>
              </a:spcBef>
            </a:pPr>
            <a:r>
              <a:rPr lang="en-SG" dirty="0"/>
              <a:t>If the first element is greater than the second (for ascending order), swap them.</a:t>
            </a:r>
          </a:p>
          <a:p>
            <a:pPr lvl="1">
              <a:lnSpc>
                <a:spcPct val="110000"/>
              </a:lnSpc>
              <a:spcBef>
                <a:spcPts val="0"/>
              </a:spcBef>
            </a:pPr>
            <a:r>
              <a:rPr lang="en-SG" dirty="0"/>
              <a:t>Repeat for the Remaining Elements:</a:t>
            </a:r>
          </a:p>
          <a:p>
            <a:pPr lvl="2">
              <a:lnSpc>
                <a:spcPct val="110000"/>
              </a:lnSpc>
              <a:spcBef>
                <a:spcPts val="0"/>
              </a:spcBef>
            </a:pPr>
            <a:r>
              <a:rPr lang="en-SG" dirty="0"/>
              <a:t>After each pass, the largest element is "bubbled" to its correct position at the end of the array.</a:t>
            </a:r>
          </a:p>
          <a:p>
            <a:pPr lvl="2">
              <a:lnSpc>
                <a:spcPct val="110000"/>
              </a:lnSpc>
              <a:spcBef>
                <a:spcPts val="0"/>
              </a:spcBef>
            </a:pPr>
            <a:r>
              <a:rPr lang="en-SG" dirty="0"/>
              <a:t>The next pass only processes the unsorted portion of the array.</a:t>
            </a:r>
          </a:p>
          <a:p>
            <a:pPr lvl="1">
              <a:lnSpc>
                <a:spcPct val="110000"/>
              </a:lnSpc>
              <a:spcBef>
                <a:spcPts val="0"/>
              </a:spcBef>
            </a:pPr>
            <a:r>
              <a:rPr lang="en-SG" b="1" dirty="0"/>
              <a:t>Stop When Sorted: If no swaps are made in a pass, the array is already sorted, and the algorithm terminates.</a:t>
            </a:r>
            <a:endParaRPr lang="en-SG" dirty="0"/>
          </a:p>
          <a:p>
            <a:pPr>
              <a:lnSpc>
                <a:spcPct val="110000"/>
              </a:lnSpc>
              <a:spcBef>
                <a:spcPts val="0"/>
              </a:spcBef>
            </a:pPr>
            <a:r>
              <a:rPr lang="en-SG" dirty="0"/>
              <a:t>Note: bubble sort grows fastest when input is sorted in reverse order and slowest when input already is sorted (in what O(.)?)</a:t>
            </a:r>
          </a:p>
        </p:txBody>
      </p:sp>
    </p:spTree>
    <p:extLst>
      <p:ext uri="{BB962C8B-B14F-4D97-AF65-F5344CB8AC3E}">
        <p14:creationId xmlns:p14="http://schemas.microsoft.com/office/powerpoint/2010/main" val="4179829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A1AAB-9763-0B99-1AB4-6787FF55D560}"/>
            </a:ext>
          </a:extLst>
        </p:cNvPr>
        <p:cNvGrpSpPr/>
        <p:nvPr/>
      </p:nvGrpSpPr>
      <p:grpSpPr>
        <a:xfrm>
          <a:off x="0" y="0"/>
          <a:ext cx="0" cy="0"/>
          <a:chOff x="0" y="0"/>
          <a:chExt cx="0" cy="0"/>
        </a:xfrm>
      </p:grpSpPr>
      <p:pic>
        <p:nvPicPr>
          <p:cNvPr id="7" name="Picture 6" descr="A group of rectangular boxes with numbers&#10;&#10;Description automatically generated with medium confidence">
            <a:extLst>
              <a:ext uri="{FF2B5EF4-FFF2-40B4-BE49-F238E27FC236}">
                <a16:creationId xmlns:a16="http://schemas.microsoft.com/office/drawing/2014/main" id="{45FF0333-D73F-FEC0-0099-13DD36B39559}"/>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409700" y="558720"/>
            <a:ext cx="8684429" cy="5591773"/>
          </a:xfrm>
          <a:prstGeom prst="rect">
            <a:avLst/>
          </a:prstGeom>
        </p:spPr>
      </p:pic>
      <p:cxnSp>
        <p:nvCxnSpPr>
          <p:cNvPr id="8" name="Straight Arrow Connector 7">
            <a:extLst>
              <a:ext uri="{FF2B5EF4-FFF2-40B4-BE49-F238E27FC236}">
                <a16:creationId xmlns:a16="http://schemas.microsoft.com/office/drawing/2014/main" id="{CACCFA59-1EFD-2BE1-DA42-F872D1B711C5}"/>
              </a:ext>
            </a:extLst>
          </p:cNvPr>
          <p:cNvCxnSpPr>
            <a:cxnSpLocks/>
          </p:cNvCxnSpPr>
          <p:nvPr/>
        </p:nvCxnSpPr>
        <p:spPr>
          <a:xfrm>
            <a:off x="3362325" y="6153150"/>
            <a:ext cx="647700" cy="0"/>
          </a:xfrm>
          <a:prstGeom prst="straightConnector1">
            <a:avLst/>
          </a:prstGeom>
          <a:ln w="76200">
            <a:solidFill>
              <a:srgbClr val="7030A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1510FD70-19D9-17F4-FA4A-39548D2C3BDA}"/>
              </a:ext>
            </a:extLst>
          </p:cNvPr>
          <p:cNvCxnSpPr>
            <a:cxnSpLocks/>
          </p:cNvCxnSpPr>
          <p:nvPr/>
        </p:nvCxnSpPr>
        <p:spPr>
          <a:xfrm>
            <a:off x="6372225" y="1895475"/>
            <a:ext cx="647700" cy="0"/>
          </a:xfrm>
          <a:prstGeom prst="straightConnector1">
            <a:avLst/>
          </a:prstGeom>
          <a:ln w="76200">
            <a:solidFill>
              <a:srgbClr val="7030A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A14622B-5047-2E97-BC41-C8AD9094D466}"/>
              </a:ext>
            </a:extLst>
          </p:cNvPr>
          <p:cNvCxnSpPr>
            <a:cxnSpLocks/>
          </p:cNvCxnSpPr>
          <p:nvPr/>
        </p:nvCxnSpPr>
        <p:spPr>
          <a:xfrm>
            <a:off x="6372225" y="3343275"/>
            <a:ext cx="647700" cy="0"/>
          </a:xfrm>
          <a:prstGeom prst="straightConnector1">
            <a:avLst/>
          </a:prstGeom>
          <a:ln w="76200">
            <a:solidFill>
              <a:srgbClr val="7030A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3A0A8E7-A7F8-13C4-089F-0D6300DA27A4}"/>
              </a:ext>
            </a:extLst>
          </p:cNvPr>
          <p:cNvCxnSpPr>
            <a:cxnSpLocks/>
          </p:cNvCxnSpPr>
          <p:nvPr/>
        </p:nvCxnSpPr>
        <p:spPr>
          <a:xfrm>
            <a:off x="5781675" y="4781550"/>
            <a:ext cx="1238250" cy="0"/>
          </a:xfrm>
          <a:prstGeom prst="straightConnector1">
            <a:avLst/>
          </a:prstGeom>
          <a:ln w="76200">
            <a:solidFill>
              <a:srgbClr val="7030A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E35645E-75D3-1F0F-6C15-FC9AD325C525}"/>
              </a:ext>
            </a:extLst>
          </p:cNvPr>
          <p:cNvCxnSpPr>
            <a:cxnSpLocks/>
          </p:cNvCxnSpPr>
          <p:nvPr/>
        </p:nvCxnSpPr>
        <p:spPr>
          <a:xfrm>
            <a:off x="8772525" y="1933575"/>
            <a:ext cx="1238250" cy="0"/>
          </a:xfrm>
          <a:prstGeom prst="straightConnector1">
            <a:avLst/>
          </a:prstGeom>
          <a:ln w="76200">
            <a:solidFill>
              <a:srgbClr val="7030A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2B5E54BE-2708-F778-BBC0-9DE0F4687017}"/>
              </a:ext>
            </a:extLst>
          </p:cNvPr>
          <p:cNvCxnSpPr>
            <a:cxnSpLocks/>
          </p:cNvCxnSpPr>
          <p:nvPr/>
        </p:nvCxnSpPr>
        <p:spPr>
          <a:xfrm>
            <a:off x="7496175" y="3333750"/>
            <a:ext cx="2514600" cy="0"/>
          </a:xfrm>
          <a:prstGeom prst="straightConnector1">
            <a:avLst/>
          </a:prstGeom>
          <a:ln w="76200">
            <a:solidFill>
              <a:srgbClr val="7030A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8574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7154DB55-4654-307B-115E-D10E25E459F2}"/>
              </a:ext>
            </a:extLst>
          </p:cNvPr>
          <p:cNvPicPr>
            <a:picLocks noChangeAspect="1"/>
          </p:cNvPicPr>
          <p:nvPr/>
        </p:nvPicPr>
        <p:blipFill>
          <a:blip r:embed="rId2"/>
          <a:stretch>
            <a:fillRect/>
          </a:stretch>
        </p:blipFill>
        <p:spPr>
          <a:xfrm>
            <a:off x="6641645" y="2482038"/>
            <a:ext cx="4631600" cy="2799195"/>
          </a:xfrm>
          <a:prstGeom prst="rect">
            <a:avLst/>
          </a:prstGeom>
        </p:spPr>
      </p:pic>
      <p:pic>
        <p:nvPicPr>
          <p:cNvPr id="17" name="Picture 16">
            <a:extLst>
              <a:ext uri="{FF2B5EF4-FFF2-40B4-BE49-F238E27FC236}">
                <a16:creationId xmlns:a16="http://schemas.microsoft.com/office/drawing/2014/main" id="{584EE081-121E-ECEF-D26D-25FAD990A5CD}"/>
              </a:ext>
            </a:extLst>
          </p:cNvPr>
          <p:cNvPicPr>
            <a:picLocks noChangeAspect="1"/>
          </p:cNvPicPr>
          <p:nvPr/>
        </p:nvPicPr>
        <p:blipFill>
          <a:blip r:embed="rId3"/>
          <a:stretch>
            <a:fillRect/>
          </a:stretch>
        </p:blipFill>
        <p:spPr>
          <a:xfrm>
            <a:off x="896461" y="2049464"/>
            <a:ext cx="4795661" cy="2510010"/>
          </a:xfrm>
          <a:prstGeom prst="rect">
            <a:avLst/>
          </a:prstGeom>
        </p:spPr>
      </p:pic>
      <p:sp>
        <p:nvSpPr>
          <p:cNvPr id="2" name="Rectangle 1">
            <a:extLst>
              <a:ext uri="{FF2B5EF4-FFF2-40B4-BE49-F238E27FC236}">
                <a16:creationId xmlns:a16="http://schemas.microsoft.com/office/drawing/2014/main" id="{61DB7E0C-83D4-C0FA-398B-8A9B3A97FF61}"/>
              </a:ext>
            </a:extLst>
          </p:cNvPr>
          <p:cNvSpPr/>
          <p:nvPr/>
        </p:nvSpPr>
        <p:spPr>
          <a:xfrm>
            <a:off x="926925" y="400833"/>
            <a:ext cx="10509337" cy="8267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3200" dirty="0">
                <a:solidFill>
                  <a:schemeClr val="tx1"/>
                </a:solidFill>
              </a:rPr>
              <a:t>3.a) Bubble Sort Implementation</a:t>
            </a:r>
          </a:p>
        </p:txBody>
      </p:sp>
      <p:sp>
        <p:nvSpPr>
          <p:cNvPr id="4" name="Rectangle 3">
            <a:extLst>
              <a:ext uri="{FF2B5EF4-FFF2-40B4-BE49-F238E27FC236}">
                <a16:creationId xmlns:a16="http://schemas.microsoft.com/office/drawing/2014/main" id="{7FF0EF27-4C71-E970-AABB-130E19BC87F7}"/>
              </a:ext>
            </a:extLst>
          </p:cNvPr>
          <p:cNvSpPr/>
          <p:nvPr/>
        </p:nvSpPr>
        <p:spPr>
          <a:xfrm>
            <a:off x="989556" y="1603331"/>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bubble_sort.cpp</a:t>
            </a:r>
          </a:p>
        </p:txBody>
      </p:sp>
      <p:sp>
        <p:nvSpPr>
          <p:cNvPr id="5" name="Rectangle 4">
            <a:extLst>
              <a:ext uri="{FF2B5EF4-FFF2-40B4-BE49-F238E27FC236}">
                <a16:creationId xmlns:a16="http://schemas.microsoft.com/office/drawing/2014/main" id="{FCDACC25-6CFC-6348-13AF-AF2D20570092}"/>
              </a:ext>
            </a:extLst>
          </p:cNvPr>
          <p:cNvSpPr/>
          <p:nvPr/>
        </p:nvSpPr>
        <p:spPr>
          <a:xfrm>
            <a:off x="6688899" y="1853852"/>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 </a:t>
            </a:r>
            <a:r>
              <a:rPr lang="en-SG" sz="2400" dirty="0" err="1">
                <a:solidFill>
                  <a:schemeClr val="tx1"/>
                </a:solidFill>
              </a:rPr>
              <a:t>bubble_sort.out</a:t>
            </a:r>
            <a:r>
              <a:rPr lang="en-SG" sz="2400" dirty="0">
                <a:solidFill>
                  <a:schemeClr val="tx1"/>
                </a:solidFill>
              </a:rPr>
              <a:t> &lt; test.dat</a:t>
            </a:r>
          </a:p>
        </p:txBody>
      </p:sp>
      <p:sp>
        <p:nvSpPr>
          <p:cNvPr id="7" name="Rectangle 6">
            <a:extLst>
              <a:ext uri="{FF2B5EF4-FFF2-40B4-BE49-F238E27FC236}">
                <a16:creationId xmlns:a16="http://schemas.microsoft.com/office/drawing/2014/main" id="{4C552C0B-78B1-FACD-A0EF-79BEA116BA7A}"/>
              </a:ext>
            </a:extLst>
          </p:cNvPr>
          <p:cNvSpPr/>
          <p:nvPr/>
        </p:nvSpPr>
        <p:spPr>
          <a:xfrm>
            <a:off x="888274" y="4663440"/>
            <a:ext cx="4781006" cy="1035903"/>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Add iterative </a:t>
            </a:r>
            <a:r>
              <a:rPr lang="en-SG" sz="2000" dirty="0" err="1">
                <a:solidFill>
                  <a:schemeClr val="tx1"/>
                </a:solidFill>
              </a:rPr>
              <a:t>bubble_sort</a:t>
            </a:r>
            <a:r>
              <a:rPr lang="en-SG" sz="2000" dirty="0">
                <a:solidFill>
                  <a:schemeClr val="tx1"/>
                </a:solidFill>
              </a:rPr>
              <a:t>( ) codes.</a:t>
            </a:r>
          </a:p>
          <a:p>
            <a:r>
              <a:rPr lang="en-SG" sz="2000" dirty="0">
                <a:solidFill>
                  <a:schemeClr val="tx1"/>
                </a:solidFill>
              </a:rPr>
              <a:t>Note: to optimize sorting, implement an early exit feature.</a:t>
            </a:r>
          </a:p>
        </p:txBody>
      </p:sp>
      <p:sp>
        <p:nvSpPr>
          <p:cNvPr id="8" name="Rectangle 7">
            <a:extLst>
              <a:ext uri="{FF2B5EF4-FFF2-40B4-BE49-F238E27FC236}">
                <a16:creationId xmlns:a16="http://schemas.microsoft.com/office/drawing/2014/main" id="{6A142B49-3A0E-A3F3-2C94-C57D0EB16045}"/>
              </a:ext>
            </a:extLst>
          </p:cNvPr>
          <p:cNvSpPr/>
          <p:nvPr/>
        </p:nvSpPr>
        <p:spPr>
          <a:xfrm>
            <a:off x="1077238" y="5849655"/>
            <a:ext cx="4359057" cy="57619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Do not remove these.</a:t>
            </a:r>
          </a:p>
        </p:txBody>
      </p:sp>
      <p:sp>
        <p:nvSpPr>
          <p:cNvPr id="9" name="Rectangle 8">
            <a:extLst>
              <a:ext uri="{FF2B5EF4-FFF2-40B4-BE49-F238E27FC236}">
                <a16:creationId xmlns:a16="http://schemas.microsoft.com/office/drawing/2014/main" id="{F35CEFCD-58E9-E0A3-74A9-E2B370D77308}"/>
              </a:ext>
            </a:extLst>
          </p:cNvPr>
          <p:cNvSpPr/>
          <p:nvPr/>
        </p:nvSpPr>
        <p:spPr>
          <a:xfrm>
            <a:off x="989556" y="4089746"/>
            <a:ext cx="4572000" cy="219207"/>
          </a:xfrm>
          <a:prstGeom prst="rect">
            <a:avLst/>
          </a:prstGeom>
          <a:no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 name="Connector: Elbow 9">
            <a:extLst>
              <a:ext uri="{FF2B5EF4-FFF2-40B4-BE49-F238E27FC236}">
                <a16:creationId xmlns:a16="http://schemas.microsoft.com/office/drawing/2014/main" id="{A1EDDCDD-CAD0-E0C6-0D03-8669930D2050}"/>
              </a:ext>
            </a:extLst>
          </p:cNvPr>
          <p:cNvCxnSpPr>
            <a:cxnSpLocks/>
            <a:stCxn id="9" idx="1"/>
            <a:endCxn id="7" idx="1"/>
          </p:cNvCxnSpPr>
          <p:nvPr/>
        </p:nvCxnSpPr>
        <p:spPr>
          <a:xfrm rot="10800000" flipV="1">
            <a:off x="888274" y="4199350"/>
            <a:ext cx="101282" cy="982042"/>
          </a:xfrm>
          <a:prstGeom prst="bentConnector3">
            <a:avLst>
              <a:gd name="adj1" fmla="val 325706"/>
            </a:avLst>
          </a:prstGeom>
          <a:ln>
            <a:solidFill>
              <a:schemeClr val="accent5">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281BB8FA-E503-B5E8-2E4C-8E4C1CA92E72}"/>
              </a:ext>
            </a:extLst>
          </p:cNvPr>
          <p:cNvSpPr/>
          <p:nvPr/>
        </p:nvSpPr>
        <p:spPr>
          <a:xfrm>
            <a:off x="989556" y="3457183"/>
            <a:ext cx="4572000" cy="5636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12" name="Connector: Elbow 11">
            <a:extLst>
              <a:ext uri="{FF2B5EF4-FFF2-40B4-BE49-F238E27FC236}">
                <a16:creationId xmlns:a16="http://schemas.microsoft.com/office/drawing/2014/main" id="{77254A4F-FDDE-C9BC-A8F7-2CCDC9A74D44}"/>
              </a:ext>
            </a:extLst>
          </p:cNvPr>
          <p:cNvCxnSpPr>
            <a:cxnSpLocks/>
            <a:stCxn id="11" idx="1"/>
            <a:endCxn id="8" idx="1"/>
          </p:cNvCxnSpPr>
          <p:nvPr/>
        </p:nvCxnSpPr>
        <p:spPr>
          <a:xfrm rot="10800000" flipH="1" flipV="1">
            <a:off x="989556" y="3739018"/>
            <a:ext cx="87682" cy="2398735"/>
          </a:xfrm>
          <a:prstGeom prst="bentConnector3">
            <a:avLst>
              <a:gd name="adj1" fmla="val -446430"/>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3" name="Arrow: Right 12">
            <a:extLst>
              <a:ext uri="{FF2B5EF4-FFF2-40B4-BE49-F238E27FC236}">
                <a16:creationId xmlns:a16="http://schemas.microsoft.com/office/drawing/2014/main" id="{B9AC6D46-33B2-B4A0-8304-0A330A048337}"/>
              </a:ext>
            </a:extLst>
          </p:cNvPr>
          <p:cNvSpPr/>
          <p:nvPr/>
        </p:nvSpPr>
        <p:spPr>
          <a:xfrm>
            <a:off x="5937338" y="3369501"/>
            <a:ext cx="450938" cy="413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13">
            <a:extLst>
              <a:ext uri="{FF2B5EF4-FFF2-40B4-BE49-F238E27FC236}">
                <a16:creationId xmlns:a16="http://schemas.microsoft.com/office/drawing/2014/main" id="{7AE2B1F8-F98A-FFC1-FC5D-90E93DE78FED}"/>
              </a:ext>
            </a:extLst>
          </p:cNvPr>
          <p:cNvSpPr/>
          <p:nvPr/>
        </p:nvSpPr>
        <p:spPr>
          <a:xfrm>
            <a:off x="6613743" y="5354877"/>
            <a:ext cx="4647155" cy="394570"/>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Step-by-step </a:t>
            </a:r>
            <a:r>
              <a:rPr lang="en-SG" sz="2000" dirty="0" err="1">
                <a:solidFill>
                  <a:schemeClr val="tx1"/>
                </a:solidFill>
              </a:rPr>
              <a:t>bubble_sort</a:t>
            </a:r>
            <a:r>
              <a:rPr lang="en-SG" sz="2000" dirty="0">
                <a:solidFill>
                  <a:schemeClr val="tx1"/>
                </a:solidFill>
              </a:rPr>
              <a:t> output</a:t>
            </a:r>
          </a:p>
        </p:txBody>
      </p:sp>
      <p:sp>
        <p:nvSpPr>
          <p:cNvPr id="15" name="Rectangle 14">
            <a:extLst>
              <a:ext uri="{FF2B5EF4-FFF2-40B4-BE49-F238E27FC236}">
                <a16:creationId xmlns:a16="http://schemas.microsoft.com/office/drawing/2014/main" id="{B04C1A0B-076B-28F9-373D-E3EE0FB11FFB}"/>
              </a:ext>
            </a:extLst>
          </p:cNvPr>
          <p:cNvSpPr/>
          <p:nvPr/>
        </p:nvSpPr>
        <p:spPr>
          <a:xfrm>
            <a:off x="6663847" y="3448593"/>
            <a:ext cx="4584526" cy="1812337"/>
          </a:xfrm>
          <a:prstGeom prst="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6" name="Connector: Elbow 15">
            <a:extLst>
              <a:ext uri="{FF2B5EF4-FFF2-40B4-BE49-F238E27FC236}">
                <a16:creationId xmlns:a16="http://schemas.microsoft.com/office/drawing/2014/main" id="{969E5953-3716-8EFE-04BD-D6AEBE317BCD}"/>
              </a:ext>
            </a:extLst>
          </p:cNvPr>
          <p:cNvCxnSpPr>
            <a:cxnSpLocks/>
            <a:stCxn id="15" idx="3"/>
            <a:endCxn id="14" idx="3"/>
          </p:cNvCxnSpPr>
          <p:nvPr/>
        </p:nvCxnSpPr>
        <p:spPr>
          <a:xfrm>
            <a:off x="11248373" y="4354762"/>
            <a:ext cx="12525" cy="1197400"/>
          </a:xfrm>
          <a:prstGeom prst="bentConnector3">
            <a:avLst>
              <a:gd name="adj1" fmla="val 1925150"/>
            </a:avLst>
          </a:prstGeom>
          <a:ln>
            <a:solidFill>
              <a:schemeClr val="accent3">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825650B0-BBCD-D3FC-E4C4-B215ECFF532D}"/>
              </a:ext>
            </a:extLst>
          </p:cNvPr>
          <p:cNvSpPr/>
          <p:nvPr/>
        </p:nvSpPr>
        <p:spPr>
          <a:xfrm>
            <a:off x="5724395" y="2993719"/>
            <a:ext cx="914400" cy="3632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dirty="0">
                <a:solidFill>
                  <a:schemeClr val="tx1"/>
                </a:solidFill>
              </a:rPr>
              <a:t>&gt; make</a:t>
            </a:r>
          </a:p>
        </p:txBody>
      </p:sp>
      <p:sp>
        <p:nvSpPr>
          <p:cNvPr id="41" name="Rectangle 40">
            <a:extLst>
              <a:ext uri="{FF2B5EF4-FFF2-40B4-BE49-F238E27FC236}">
                <a16:creationId xmlns:a16="http://schemas.microsoft.com/office/drawing/2014/main" id="{5315A94F-26F0-7F10-24A5-31D726531D47}"/>
              </a:ext>
            </a:extLst>
          </p:cNvPr>
          <p:cNvSpPr/>
          <p:nvPr/>
        </p:nvSpPr>
        <p:spPr>
          <a:xfrm>
            <a:off x="6322423" y="5865222"/>
            <a:ext cx="5460276" cy="875210"/>
          </a:xfrm>
          <a:prstGeom prst="rect">
            <a:avLst/>
          </a:prstGeom>
          <a:solidFill>
            <a:srgbClr val="FFFF66">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563" indent="-182563">
              <a:buFontTx/>
              <a:buChar char="-"/>
            </a:pPr>
            <a:r>
              <a:rPr lang="en-SG" sz="2400" dirty="0">
                <a:solidFill>
                  <a:schemeClr val="tx1"/>
                </a:solidFill>
              </a:rPr>
              <a:t>Upload modified bubble_sort.cpp to </a:t>
            </a:r>
            <a:r>
              <a:rPr lang="en-SG" sz="2400" dirty="0" err="1">
                <a:solidFill>
                  <a:schemeClr val="tx1"/>
                </a:solidFill>
              </a:rPr>
              <a:t>gradescope</a:t>
            </a:r>
            <a:r>
              <a:rPr lang="en-SG" sz="2400" dirty="0">
                <a:solidFill>
                  <a:schemeClr val="tx1"/>
                </a:solidFill>
              </a:rPr>
              <a:t>.</a:t>
            </a:r>
          </a:p>
        </p:txBody>
      </p:sp>
    </p:spTree>
    <p:extLst>
      <p:ext uri="{BB962C8B-B14F-4D97-AF65-F5344CB8AC3E}">
        <p14:creationId xmlns:p14="http://schemas.microsoft.com/office/powerpoint/2010/main" val="3575408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3356C0AD-3407-3989-9D44-CFE728A3A00C}"/>
              </a:ext>
            </a:extLst>
          </p:cNvPr>
          <p:cNvPicPr>
            <a:picLocks noChangeAspect="1"/>
          </p:cNvPicPr>
          <p:nvPr/>
        </p:nvPicPr>
        <p:blipFill>
          <a:blip r:embed="rId2"/>
          <a:stretch>
            <a:fillRect/>
          </a:stretch>
        </p:blipFill>
        <p:spPr>
          <a:xfrm>
            <a:off x="6627865" y="1811388"/>
            <a:ext cx="4779114" cy="2016029"/>
          </a:xfrm>
          <a:prstGeom prst="rect">
            <a:avLst/>
          </a:prstGeom>
        </p:spPr>
      </p:pic>
      <p:pic>
        <p:nvPicPr>
          <p:cNvPr id="21" name="Picture 20">
            <a:extLst>
              <a:ext uri="{FF2B5EF4-FFF2-40B4-BE49-F238E27FC236}">
                <a16:creationId xmlns:a16="http://schemas.microsoft.com/office/drawing/2014/main" id="{AE6E5BC2-8C3A-7178-4B9C-1D681D21EC11}"/>
              </a:ext>
            </a:extLst>
          </p:cNvPr>
          <p:cNvPicPr>
            <a:picLocks noChangeAspect="1"/>
          </p:cNvPicPr>
          <p:nvPr/>
        </p:nvPicPr>
        <p:blipFill>
          <a:blip r:embed="rId3"/>
          <a:stretch>
            <a:fillRect/>
          </a:stretch>
        </p:blipFill>
        <p:spPr>
          <a:xfrm>
            <a:off x="874232" y="2101917"/>
            <a:ext cx="4755859" cy="2582169"/>
          </a:xfrm>
          <a:prstGeom prst="rect">
            <a:avLst/>
          </a:prstGeom>
        </p:spPr>
      </p:pic>
      <p:sp>
        <p:nvSpPr>
          <p:cNvPr id="2" name="Rectangle 1">
            <a:extLst>
              <a:ext uri="{FF2B5EF4-FFF2-40B4-BE49-F238E27FC236}">
                <a16:creationId xmlns:a16="http://schemas.microsoft.com/office/drawing/2014/main" id="{61DB7E0C-83D4-C0FA-398B-8A9B3A97FF61}"/>
              </a:ext>
            </a:extLst>
          </p:cNvPr>
          <p:cNvSpPr/>
          <p:nvPr/>
        </p:nvSpPr>
        <p:spPr>
          <a:xfrm>
            <a:off x="926925" y="400833"/>
            <a:ext cx="10509337" cy="8267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3200" dirty="0">
                <a:solidFill>
                  <a:schemeClr val="tx1"/>
                </a:solidFill>
              </a:rPr>
              <a:t>3.b) Bubble Sort Benchmark</a:t>
            </a:r>
          </a:p>
        </p:txBody>
      </p:sp>
      <p:sp>
        <p:nvSpPr>
          <p:cNvPr id="4" name="Rectangle 3">
            <a:extLst>
              <a:ext uri="{FF2B5EF4-FFF2-40B4-BE49-F238E27FC236}">
                <a16:creationId xmlns:a16="http://schemas.microsoft.com/office/drawing/2014/main" id="{7FF0EF27-4C71-E970-AABB-130E19BC87F7}"/>
              </a:ext>
            </a:extLst>
          </p:cNvPr>
          <p:cNvSpPr/>
          <p:nvPr/>
        </p:nvSpPr>
        <p:spPr>
          <a:xfrm>
            <a:off x="989556" y="1603331"/>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bubble_sort_benchmark.cpp</a:t>
            </a:r>
          </a:p>
        </p:txBody>
      </p:sp>
      <p:sp>
        <p:nvSpPr>
          <p:cNvPr id="5" name="Rectangle 4">
            <a:extLst>
              <a:ext uri="{FF2B5EF4-FFF2-40B4-BE49-F238E27FC236}">
                <a16:creationId xmlns:a16="http://schemas.microsoft.com/office/drawing/2014/main" id="{FCDACC25-6CFC-6348-13AF-AF2D20570092}"/>
              </a:ext>
            </a:extLst>
          </p:cNvPr>
          <p:cNvSpPr/>
          <p:nvPr/>
        </p:nvSpPr>
        <p:spPr>
          <a:xfrm>
            <a:off x="6715024" y="1292151"/>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dirty="0">
                <a:solidFill>
                  <a:schemeClr val="tx1"/>
                </a:solidFill>
              </a:rPr>
              <a:t>./</a:t>
            </a:r>
            <a:r>
              <a:rPr lang="en-SG" sz="2400" dirty="0" err="1">
                <a:solidFill>
                  <a:schemeClr val="tx1"/>
                </a:solidFill>
              </a:rPr>
              <a:t>bubble_sort_benchmark.out</a:t>
            </a:r>
            <a:r>
              <a:rPr lang="en-SG" sz="2400" dirty="0">
                <a:solidFill>
                  <a:schemeClr val="tx1"/>
                </a:solidFill>
              </a:rPr>
              <a:t> </a:t>
            </a:r>
          </a:p>
        </p:txBody>
      </p:sp>
      <p:sp>
        <p:nvSpPr>
          <p:cNvPr id="7" name="Rectangle 6">
            <a:extLst>
              <a:ext uri="{FF2B5EF4-FFF2-40B4-BE49-F238E27FC236}">
                <a16:creationId xmlns:a16="http://schemas.microsoft.com/office/drawing/2014/main" id="{4C552C0B-78B1-FACD-A0EF-79BEA116BA7A}"/>
              </a:ext>
            </a:extLst>
          </p:cNvPr>
          <p:cNvSpPr/>
          <p:nvPr/>
        </p:nvSpPr>
        <p:spPr>
          <a:xfrm>
            <a:off x="1077238" y="5123145"/>
            <a:ext cx="4359057" cy="57619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000" dirty="0">
                <a:solidFill>
                  <a:schemeClr val="tx1"/>
                </a:solidFill>
              </a:rPr>
              <a:t>Replace with codes from previous exercise.</a:t>
            </a:r>
          </a:p>
        </p:txBody>
      </p:sp>
      <p:sp>
        <p:nvSpPr>
          <p:cNvPr id="9" name="Rectangle 8">
            <a:extLst>
              <a:ext uri="{FF2B5EF4-FFF2-40B4-BE49-F238E27FC236}">
                <a16:creationId xmlns:a16="http://schemas.microsoft.com/office/drawing/2014/main" id="{F35CEFCD-58E9-E0A3-74A9-E2B370D77308}"/>
              </a:ext>
            </a:extLst>
          </p:cNvPr>
          <p:cNvSpPr/>
          <p:nvPr/>
        </p:nvSpPr>
        <p:spPr>
          <a:xfrm>
            <a:off x="976494" y="4114800"/>
            <a:ext cx="4572000" cy="313509"/>
          </a:xfrm>
          <a:prstGeom prst="rect">
            <a:avLst/>
          </a:prstGeom>
          <a:no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 name="Connector: Elbow 9">
            <a:extLst>
              <a:ext uri="{FF2B5EF4-FFF2-40B4-BE49-F238E27FC236}">
                <a16:creationId xmlns:a16="http://schemas.microsoft.com/office/drawing/2014/main" id="{A1EDDCDD-CAD0-E0C6-0D03-8669930D2050}"/>
              </a:ext>
            </a:extLst>
          </p:cNvPr>
          <p:cNvCxnSpPr>
            <a:cxnSpLocks/>
            <a:stCxn id="9" idx="1"/>
            <a:endCxn id="7" idx="1"/>
          </p:cNvCxnSpPr>
          <p:nvPr/>
        </p:nvCxnSpPr>
        <p:spPr>
          <a:xfrm rot="10800000" flipH="1" flipV="1">
            <a:off x="976494" y="4271554"/>
            <a:ext cx="100744" cy="1139689"/>
          </a:xfrm>
          <a:prstGeom prst="bentConnector3">
            <a:avLst>
              <a:gd name="adj1" fmla="val -226912"/>
            </a:avLst>
          </a:prstGeom>
          <a:ln>
            <a:solidFill>
              <a:schemeClr val="accent5">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3" name="Arrow: Right 12">
            <a:extLst>
              <a:ext uri="{FF2B5EF4-FFF2-40B4-BE49-F238E27FC236}">
                <a16:creationId xmlns:a16="http://schemas.microsoft.com/office/drawing/2014/main" id="{B9AC6D46-33B2-B4A0-8304-0A330A048337}"/>
              </a:ext>
            </a:extLst>
          </p:cNvPr>
          <p:cNvSpPr/>
          <p:nvPr/>
        </p:nvSpPr>
        <p:spPr>
          <a:xfrm>
            <a:off x="5937338" y="3369501"/>
            <a:ext cx="450938" cy="413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13">
            <a:extLst>
              <a:ext uri="{FF2B5EF4-FFF2-40B4-BE49-F238E27FC236}">
                <a16:creationId xmlns:a16="http://schemas.microsoft.com/office/drawing/2014/main" id="{7AE2B1F8-F98A-FFC1-FC5D-90E93DE78FED}"/>
              </a:ext>
            </a:extLst>
          </p:cNvPr>
          <p:cNvSpPr/>
          <p:nvPr/>
        </p:nvSpPr>
        <p:spPr>
          <a:xfrm>
            <a:off x="6639868" y="3970214"/>
            <a:ext cx="4647155" cy="2090951"/>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563" indent="-182563">
              <a:buFontTx/>
              <a:buChar char="-"/>
            </a:pPr>
            <a:r>
              <a:rPr lang="en-SG" sz="2000" dirty="0">
                <a:solidFill>
                  <a:schemeClr val="tx1"/>
                </a:solidFill>
              </a:rPr>
              <a:t>May take a few minutes</a:t>
            </a:r>
          </a:p>
          <a:p>
            <a:pPr marL="182563" indent="-182563">
              <a:buFontTx/>
              <a:buChar char="-"/>
            </a:pPr>
            <a:r>
              <a:rPr lang="en-SG" sz="2000" dirty="0">
                <a:solidFill>
                  <a:schemeClr val="tx1"/>
                </a:solidFill>
              </a:rPr>
              <a:t>Benchmarking output:</a:t>
            </a:r>
          </a:p>
          <a:p>
            <a:pPr marL="352425" lvl="2" indent="-169863">
              <a:buFontTx/>
              <a:buChar char="-"/>
            </a:pPr>
            <a:r>
              <a:rPr lang="en-SG" sz="2000" dirty="0">
                <a:solidFill>
                  <a:schemeClr val="tx1"/>
                </a:solidFill>
              </a:rPr>
              <a:t>(Min) – with already sorted input</a:t>
            </a:r>
          </a:p>
          <a:p>
            <a:pPr marL="352425" lvl="2" indent="-169863">
              <a:buFontTx/>
              <a:buChar char="-"/>
            </a:pPr>
            <a:r>
              <a:rPr lang="en-SG" sz="2000" dirty="0">
                <a:solidFill>
                  <a:schemeClr val="tx1"/>
                </a:solidFill>
              </a:rPr>
              <a:t>(Max) – with reversely sorted </a:t>
            </a:r>
            <a:r>
              <a:rPr lang="en-SG" sz="2000" dirty="0" err="1">
                <a:solidFill>
                  <a:schemeClr val="tx1"/>
                </a:solidFill>
              </a:rPr>
              <a:t>i</a:t>
            </a:r>
            <a:r>
              <a:rPr lang="en-SG" sz="2000" dirty="0">
                <a:solidFill>
                  <a:schemeClr val="tx1"/>
                </a:solidFill>
              </a:rPr>
              <a:t>/p</a:t>
            </a:r>
          </a:p>
          <a:p>
            <a:pPr marL="352425" lvl="2" indent="-169863">
              <a:buFontTx/>
              <a:buChar char="-"/>
            </a:pPr>
            <a:r>
              <a:rPr lang="en-SG" sz="2000" dirty="0">
                <a:solidFill>
                  <a:schemeClr val="tx1"/>
                </a:solidFill>
              </a:rPr>
              <a:t>(</a:t>
            </a:r>
            <a:r>
              <a:rPr lang="en-SG" sz="2000" dirty="0" err="1">
                <a:solidFill>
                  <a:schemeClr val="tx1"/>
                </a:solidFill>
              </a:rPr>
              <a:t>Typ</a:t>
            </a:r>
            <a:r>
              <a:rPr lang="en-SG" sz="2000" dirty="0">
                <a:solidFill>
                  <a:schemeClr val="tx1"/>
                </a:solidFill>
              </a:rPr>
              <a:t>) – with random array.</a:t>
            </a:r>
          </a:p>
          <a:p>
            <a:pPr marL="182563" indent="-182563">
              <a:buFontTx/>
              <a:buChar char="-"/>
            </a:pPr>
            <a:r>
              <a:rPr lang="en-SG" sz="2000" dirty="0">
                <a:solidFill>
                  <a:schemeClr val="tx1"/>
                </a:solidFill>
              </a:rPr>
              <a:t>Individual readings may be different, trend should be the same </a:t>
            </a:r>
          </a:p>
        </p:txBody>
      </p:sp>
      <p:sp>
        <p:nvSpPr>
          <p:cNvPr id="15" name="Rectangle 14">
            <a:extLst>
              <a:ext uri="{FF2B5EF4-FFF2-40B4-BE49-F238E27FC236}">
                <a16:creationId xmlns:a16="http://schemas.microsoft.com/office/drawing/2014/main" id="{B04C1A0B-076B-28F9-373D-E3EE0FB11FFB}"/>
              </a:ext>
            </a:extLst>
          </p:cNvPr>
          <p:cNvSpPr/>
          <p:nvPr/>
        </p:nvSpPr>
        <p:spPr>
          <a:xfrm>
            <a:off x="6689972" y="2325190"/>
            <a:ext cx="4584526" cy="1449976"/>
          </a:xfrm>
          <a:prstGeom prst="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6" name="Connector: Elbow 15">
            <a:extLst>
              <a:ext uri="{FF2B5EF4-FFF2-40B4-BE49-F238E27FC236}">
                <a16:creationId xmlns:a16="http://schemas.microsoft.com/office/drawing/2014/main" id="{969E5953-3716-8EFE-04BD-D6AEBE317BCD}"/>
              </a:ext>
            </a:extLst>
          </p:cNvPr>
          <p:cNvCxnSpPr>
            <a:cxnSpLocks/>
            <a:stCxn id="15" idx="3"/>
            <a:endCxn id="14" idx="3"/>
          </p:cNvCxnSpPr>
          <p:nvPr/>
        </p:nvCxnSpPr>
        <p:spPr>
          <a:xfrm>
            <a:off x="11274498" y="3050178"/>
            <a:ext cx="12525" cy="1965512"/>
          </a:xfrm>
          <a:prstGeom prst="bentConnector3">
            <a:avLst>
              <a:gd name="adj1" fmla="val 1925150"/>
            </a:avLst>
          </a:prstGeom>
          <a:ln>
            <a:solidFill>
              <a:schemeClr val="accent3">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825650B0-BBCD-D3FC-E4C4-B215ECFF532D}"/>
              </a:ext>
            </a:extLst>
          </p:cNvPr>
          <p:cNvSpPr/>
          <p:nvPr/>
        </p:nvSpPr>
        <p:spPr>
          <a:xfrm>
            <a:off x="5724395" y="2993719"/>
            <a:ext cx="914400" cy="3632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dirty="0">
                <a:solidFill>
                  <a:schemeClr val="tx1"/>
                </a:solidFill>
              </a:rPr>
              <a:t>&gt; make</a:t>
            </a:r>
          </a:p>
        </p:txBody>
      </p:sp>
    </p:spTree>
    <p:extLst>
      <p:ext uri="{BB962C8B-B14F-4D97-AF65-F5344CB8AC3E}">
        <p14:creationId xmlns:p14="http://schemas.microsoft.com/office/powerpoint/2010/main" val="2596599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95C2B1-AD88-4915-C2E6-926567A726E8}"/>
              </a:ext>
            </a:extLst>
          </p:cNvPr>
          <p:cNvPicPr>
            <a:picLocks noChangeAspect="1"/>
          </p:cNvPicPr>
          <p:nvPr/>
        </p:nvPicPr>
        <p:blipFill>
          <a:blip r:embed="rId2"/>
          <a:stretch>
            <a:fillRect/>
          </a:stretch>
        </p:blipFill>
        <p:spPr>
          <a:xfrm>
            <a:off x="3316804" y="1952483"/>
            <a:ext cx="5621769" cy="3578115"/>
          </a:xfrm>
          <a:prstGeom prst="rect">
            <a:avLst/>
          </a:prstGeom>
        </p:spPr>
      </p:pic>
      <p:sp>
        <p:nvSpPr>
          <p:cNvPr id="2" name="Rectangle 1">
            <a:extLst>
              <a:ext uri="{FF2B5EF4-FFF2-40B4-BE49-F238E27FC236}">
                <a16:creationId xmlns:a16="http://schemas.microsoft.com/office/drawing/2014/main" id="{61DB7E0C-83D4-C0FA-398B-8A9B3A97FF61}"/>
              </a:ext>
            </a:extLst>
          </p:cNvPr>
          <p:cNvSpPr/>
          <p:nvPr/>
        </p:nvSpPr>
        <p:spPr>
          <a:xfrm>
            <a:off x="926925" y="400833"/>
            <a:ext cx="10509337" cy="8267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3200" dirty="0">
                <a:solidFill>
                  <a:schemeClr val="tx1"/>
                </a:solidFill>
              </a:rPr>
              <a:t>3.b) Bubble Sort Benchmark (</a:t>
            </a:r>
            <a:r>
              <a:rPr lang="en-SG" sz="3200" dirty="0" err="1">
                <a:solidFill>
                  <a:schemeClr val="tx1"/>
                </a:solidFill>
              </a:rPr>
              <a:t>cont</a:t>
            </a:r>
            <a:r>
              <a:rPr lang="en-SG" sz="3200" dirty="0">
                <a:solidFill>
                  <a:schemeClr val="tx1"/>
                </a:solidFill>
              </a:rPr>
              <a:t> …)</a:t>
            </a:r>
          </a:p>
        </p:txBody>
      </p:sp>
      <p:sp>
        <p:nvSpPr>
          <p:cNvPr id="4" name="Rectangle 3">
            <a:extLst>
              <a:ext uri="{FF2B5EF4-FFF2-40B4-BE49-F238E27FC236}">
                <a16:creationId xmlns:a16="http://schemas.microsoft.com/office/drawing/2014/main" id="{7FF0EF27-4C71-E970-AABB-130E19BC87F7}"/>
              </a:ext>
            </a:extLst>
          </p:cNvPr>
          <p:cNvSpPr/>
          <p:nvPr/>
        </p:nvSpPr>
        <p:spPr>
          <a:xfrm>
            <a:off x="4007077" y="1407387"/>
            <a:ext cx="4334005" cy="5761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dirty="0">
                <a:solidFill>
                  <a:schemeClr val="tx1"/>
                </a:solidFill>
              </a:rPr>
              <a:t>bubble_sort_timings.html</a:t>
            </a:r>
          </a:p>
        </p:txBody>
      </p:sp>
      <p:sp>
        <p:nvSpPr>
          <p:cNvPr id="14" name="Rectangle 13">
            <a:extLst>
              <a:ext uri="{FF2B5EF4-FFF2-40B4-BE49-F238E27FC236}">
                <a16:creationId xmlns:a16="http://schemas.microsoft.com/office/drawing/2014/main" id="{7AE2B1F8-F98A-FFC1-FC5D-90E93DE78FED}"/>
              </a:ext>
            </a:extLst>
          </p:cNvPr>
          <p:cNvSpPr/>
          <p:nvPr/>
        </p:nvSpPr>
        <p:spPr>
          <a:xfrm>
            <a:off x="1789611" y="5695405"/>
            <a:ext cx="9091750" cy="875210"/>
          </a:xfrm>
          <a:prstGeom prst="rect">
            <a:avLst/>
          </a:prstGeom>
          <a:solidFill>
            <a:srgbClr val="FFFF66">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563" indent="-182563">
              <a:buFontTx/>
              <a:buChar char="-"/>
            </a:pPr>
            <a:r>
              <a:rPr lang="en-SG" sz="2400" dirty="0">
                <a:solidFill>
                  <a:schemeClr val="tx1"/>
                </a:solidFill>
              </a:rPr>
              <a:t>Upload to </a:t>
            </a:r>
            <a:r>
              <a:rPr lang="en-SG" sz="2400" dirty="0" err="1">
                <a:solidFill>
                  <a:schemeClr val="tx1"/>
                </a:solidFill>
              </a:rPr>
              <a:t>Xsite</a:t>
            </a:r>
            <a:r>
              <a:rPr lang="en-SG" sz="2400" dirty="0">
                <a:solidFill>
                  <a:schemeClr val="tx1"/>
                </a:solidFill>
              </a:rPr>
              <a:t> </a:t>
            </a:r>
            <a:r>
              <a:rPr lang="en-SG" sz="2400" dirty="0" err="1">
                <a:solidFill>
                  <a:schemeClr val="tx1"/>
                </a:solidFill>
              </a:rPr>
              <a:t>dropbox</a:t>
            </a:r>
            <a:endParaRPr lang="en-SG" sz="2400" dirty="0">
              <a:solidFill>
                <a:schemeClr val="tx1"/>
              </a:solidFill>
            </a:endParaRPr>
          </a:p>
          <a:p>
            <a:pPr marL="182563" indent="-182563">
              <a:buFontTx/>
              <a:buChar char="-"/>
            </a:pPr>
            <a:r>
              <a:rPr lang="en-SG" sz="2400" dirty="0">
                <a:solidFill>
                  <a:schemeClr val="tx1"/>
                </a:solidFill>
              </a:rPr>
              <a:t>Comment on the growth rate of Bubble sort at </a:t>
            </a:r>
            <a:r>
              <a:rPr lang="en-SG" sz="2400" dirty="0" err="1">
                <a:solidFill>
                  <a:schemeClr val="tx1"/>
                </a:solidFill>
              </a:rPr>
              <a:t>MinT</a:t>
            </a:r>
            <a:r>
              <a:rPr lang="en-SG" sz="2400" dirty="0">
                <a:solidFill>
                  <a:schemeClr val="tx1"/>
                </a:solidFill>
              </a:rPr>
              <a:t>, </a:t>
            </a:r>
            <a:r>
              <a:rPr lang="en-SG" sz="2400" dirty="0" err="1">
                <a:solidFill>
                  <a:schemeClr val="tx1"/>
                </a:solidFill>
              </a:rPr>
              <a:t>MaxT</a:t>
            </a:r>
            <a:r>
              <a:rPr lang="en-SG" sz="2400" dirty="0">
                <a:solidFill>
                  <a:schemeClr val="tx1"/>
                </a:solidFill>
              </a:rPr>
              <a:t> and </a:t>
            </a:r>
            <a:r>
              <a:rPr lang="en-SG" sz="2400" dirty="0" err="1">
                <a:solidFill>
                  <a:schemeClr val="tx1"/>
                </a:solidFill>
              </a:rPr>
              <a:t>TypT</a:t>
            </a:r>
            <a:r>
              <a:rPr lang="en-SG" sz="2400" dirty="0">
                <a:solidFill>
                  <a:schemeClr val="tx1"/>
                </a:solidFill>
              </a:rPr>
              <a:t>.</a:t>
            </a:r>
          </a:p>
        </p:txBody>
      </p:sp>
    </p:spTree>
    <p:extLst>
      <p:ext uri="{BB962C8B-B14F-4D97-AF65-F5344CB8AC3E}">
        <p14:creationId xmlns:p14="http://schemas.microsoft.com/office/powerpoint/2010/main" val="26102641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78E38-41D6-A1F3-6A56-505654748586}"/>
              </a:ext>
            </a:extLst>
          </p:cNvPr>
          <p:cNvSpPr>
            <a:spLocks noGrp="1"/>
          </p:cNvSpPr>
          <p:nvPr>
            <p:ph type="title"/>
          </p:nvPr>
        </p:nvSpPr>
        <p:spPr>
          <a:xfrm>
            <a:off x="831850" y="1709738"/>
            <a:ext cx="10515600" cy="1934799"/>
          </a:xfrm>
        </p:spPr>
        <p:txBody>
          <a:bodyPr/>
          <a:lstStyle/>
          <a:p>
            <a:pPr algn="ctr"/>
            <a:r>
              <a:rPr lang="en-SG" dirty="0"/>
              <a:t>Fin.</a:t>
            </a:r>
          </a:p>
        </p:txBody>
      </p:sp>
    </p:spTree>
    <p:extLst>
      <p:ext uri="{BB962C8B-B14F-4D97-AF65-F5344CB8AC3E}">
        <p14:creationId xmlns:p14="http://schemas.microsoft.com/office/powerpoint/2010/main" val="697980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73350FC-C718-43E9-A27E-B78FFBC8FE04}">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5538</TotalTime>
  <Words>1195</Words>
  <Application>Microsoft Office PowerPoint</Application>
  <PresentationFormat>Widescreen</PresentationFormat>
  <Paragraphs>129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Aptos Display</vt:lpstr>
      <vt:lpstr>Arial</vt:lpstr>
      <vt:lpstr>Cambria Math</vt:lpstr>
      <vt:lpstr>Wingdings</vt:lpstr>
      <vt:lpstr>Office Theme</vt:lpstr>
      <vt:lpstr>CSD2183 Lab03 – Sort Algorithms</vt:lpstr>
      <vt:lpstr>Exercises</vt:lpstr>
      <vt:lpstr>Data file format</vt:lpstr>
      <vt:lpstr>(1) Quick Sort</vt:lpstr>
      <vt:lpstr>What is Quick Sort?</vt:lpstr>
      <vt:lpstr>PowerPoint Presentation</vt:lpstr>
      <vt:lpstr>PowerPoint Presentation</vt:lpstr>
      <vt:lpstr>PowerPoint Presentation</vt:lpstr>
      <vt:lpstr>PowerPoint Presentation</vt:lpstr>
      <vt:lpstr>(2) Heap Sort</vt:lpstr>
      <vt:lpstr>What is Heap Sort?</vt:lpstr>
      <vt:lpstr>PowerPoint Presentation</vt:lpstr>
      <vt:lpstr>PowerPoint Presentation</vt:lpstr>
      <vt:lpstr>PowerPoint Presentation</vt:lpstr>
      <vt:lpstr>(3) Bubble Sort</vt:lpstr>
      <vt:lpstr>What is Bubble Sort?</vt:lpstr>
      <vt:lpstr>PowerPoint Presentation</vt:lpstr>
      <vt:lpstr>PowerPoint Presentation</vt:lpstr>
      <vt:lpstr>PowerPoint Presentation</vt:lpstr>
      <vt:lpstr>PowerPoint Presentation</vt:lpstr>
      <vt:lpstr>Fin.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Office365</dc:creator>
  <cp:lastModifiedBy>Office365</cp:lastModifiedBy>
  <cp:revision>89</cp:revision>
  <dcterms:created xsi:type="dcterms:W3CDTF">2025-01-09T13:54:09Z</dcterms:created>
  <dcterms:modified xsi:type="dcterms:W3CDTF">2026-01-20T16:08:35Z</dcterms:modified>
</cp:coreProperties>
</file>